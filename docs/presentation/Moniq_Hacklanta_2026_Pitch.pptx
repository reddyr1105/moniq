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10 seconds</a:t>
            </a:r>
          </a:p>
          <a:p/>
          <a:p>
            <a:r>
              <a:t>Meet Moniq: Spending, Made Smarter. It helps college students track spending, manage shared expenses, and understand their financial future.</a:t>
            </a:r>
          </a:p>
          <a:p/>
          <a:p>
            <a:r>
              <a:t>Evidence / presenter reminders:</a:t>
            </a:r>
          </a:p>
          <a:p>
            <a:r>
              <a:t>docs/screenshots/12-final-dashboard.png. Alex is a synthetic demo profile, not the presenter. Replace presenter placeholder. No customer/user-count claims.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18 seconds</a:t>
            </a:r>
          </a:p>
          <a:p/>
          <a:p>
            <a:r>
              <a:t>Student money lives in fragments: bank alerts, spreadsheets, and separate apps. A paycheck lands, dinner gets split, and rent is coming. The challenge is connecting those events into a clear picture of what you can spend and what you need to save.</a:t>
            </a:r>
          </a:p>
          <a:p/>
          <a:p>
            <a:r>
              <a:t>Evidence / presenter reminders:</a:t>
            </a:r>
          </a:p>
          <a:p>
            <a:r>
              <a:t>Problem framing is a use case, not a survey or market-size claim. No quantified impact or testimonials are asserted.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18 seconds</a:t>
            </a:r>
          </a:p>
          <a:p/>
          <a:p>
            <a:r>
              <a:t>Moniq brings that picture together. Import transactions or connect Gmail with permission. Review the extracted activity, let machine learning suggest categories, and see confirmed records update your account estimates, budgets, and forecasts. Circles adds your personal share of group spending.</a:t>
            </a:r>
          </a:p>
          <a:p/>
          <a:p>
            <a:r>
              <a:t>Evidence / presenter reminders:</a:t>
            </a:r>
          </a:p>
          <a:p>
            <a:r>
              <a:t>README; frontend/src/pages; backend/app/finance.py, goals.py, gmail_routes.py, circles.py. 'Organize income' includes rules/event detection; ML is category classification, not deposit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30 seconds</a:t>
            </a:r>
          </a:p>
          <a:p/>
          <a:p>
            <a:r>
              <a:t>Here is the working flow, using synthetic data. Start with ten dollars. Moniq detects a four-hundred-dollar paycheck alert. After confirmation, the estimate becomes four hundred ten. A fifteen-dollar restaurant alert is extracted, categorized, and matched to checking. Confirm it, and the estimate becomes three hundred ninety-five. These are actual saved records and calculations, not numbers placed on a mockup. Gmail-derived balances remain estimates, not verified bank balances.</a:t>
            </a:r>
          </a:p>
          <a:p/>
          <a:p>
            <a:r>
              <a:t>Evidence / presenter reminders:</a:t>
            </a:r>
          </a:p>
          <a:p>
            <a:r>
              <a:t>Video Moniq_Hacklanta_Final.mp4: purchase review 00:29 and confirmed dashboard 00:41. Synthetic account ending 1234. Financial email detection/extraction precedes ML; confirmation gate precedes ledger update. Synthetic scenario doesn't read actual Gmail.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26 seconds</a:t>
            </a:r>
          </a:p>
          <a:p/>
          <a:p>
            <a:r>
              <a:t>SmartApprove is optional. You control trusted sender rules; authentication, account, date, confidence, and amount checks decide whether an alert can skip review. Uncertain messages stay manual. Circles handles everyday roommate bookkeeping: pay forty dollars for dinner, keep the full charge in your cash ledger, and count twenty dollars as your share. A confirmed twenty-dollar repayment clears the debt without becoming paycheck income. Moniq never sends payments.</a:t>
            </a:r>
          </a:p>
          <a:p/>
          <a:p>
            <a:r>
              <a:t>Evidence / presenter reminders:</a:t>
            </a:r>
          </a:p>
          <a:p>
            <a:r>
              <a:t>backend/app/smartapprove.py checks aligned Google-reported authentication, posted status/date, account, amount/daily caps, confidence, dedup. Test-only sender authentication allowed solely in explicit controlled fixtures. Circles integer-cent allocation/settlement, not live collaboration/payment rails.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25 seconds</a:t>
            </a:r>
          </a:p>
          <a:p/>
          <a:p>
            <a:r>
              <a:t>The system uses React and TypeScript over a Python FastAPI backend and SQLite. A local TF-IDF and logistic-regression model suggests categories. Deterministic code handles integer-cent balances, splits, and forecasts. An independent evaluation reproduced ninety-four point seven percent raw accuracy on held-out synthetic examples. That is evidence of the ML pipeline, not measured real-bank accuracy. Low-confidence descriptions still need review.</a:t>
            </a:r>
          </a:p>
          <a:p/>
          <a:p>
            <a:r>
              <a:t>Evidence / presenter reminders:</a:t>
            </a:r>
          </a:p>
          <a:p>
            <a:r>
              <a:t>backend/app/ml.py; scripts/reproduce_ml.py --check; data/ml_independent_evaluation.json. 792 train, 264 test, disjoint merchant families, correlated synthetic formatting, uncalibrated confidence. Threshold .45 gives 58.71% automatic coverage. No generative LLM is used for financial arithmetic or assistant replies. Backend security is local prototype scope, not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18 seconds</a:t>
            </a:r>
          </a:p>
          <a:p/>
          <a:p>
            <a:r>
              <a:t>The prototype passed one hundred nine backend tests and nineteen Chromium browser tests, including production pages and isolated financial workflows. It includes responsive budgets, goals, subscriptions, and record-grounded answers. Wider real-email coverage, live bank verification, and production identity remain future work. Sample deals are fictional.</a:t>
            </a:r>
          </a:p>
          <a:p/>
          <a:p>
            <a:r>
              <a:t>Evidence / presenter reminders:</a:t>
            </a:r>
          </a:p>
          <a:p>
            <a:r>
              <a:t>docs/QA_REPORT.md figures independently rerun for this presentation: 109 backend, 16 local Chromium, 3 public production Chromium; latest results in PRESENTATION_VERIFICATION.md. Counts reflect local validation. Final hosted GitHub CI remains pending approval to push.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15 seconds</a:t>
            </a:r>
          </a:p>
          <a:p/>
          <a:p>
            <a:r>
              <a:t>The goal is practical: less bookkeeping, clearer decisions, and easier roommate expenses. Codex assisted development; the work-history and dependency disclosures are in the repository. Moniq: your money, your goals, your financial future. Spending, Made Smarter.</a:t>
            </a:r>
          </a:p>
          <a:p/>
          <a:p>
            <a:r>
              <a:t>Evidence / presenter reminders:</a:t>
            </a:r>
          </a:p>
          <a:p>
            <a:r>
              <a:t>Aspirations, not proven impact/user adoption. Repository URL points to published baseline; final source/presentation require approved push. Codex assisted code, tests, docs, recordings and presentation. Team must complete WORK_DISCLOSURE.md work-window/contribution fields. Do not assert all work happened during Hacklanta until confirmed.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ReddyR1105/Moniq" TargetMode="External"/><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48640" y="320040"/>
            <a:ext cx="9144000" cy="256032"/>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596B60"/>
                </a:solidFill>
                <a:latin typeface="Segoe UI"/>
              </a:rPr>
              <a:t>SPENDING, MADE SMARTER.</a:t>
            </a:r>
          </a:p>
        </p:txBody>
      </p:sp>
      <p:sp>
        <p:nvSpPr>
          <p:cNvPr id="3" name="TextBox 2"/>
          <p:cNvSpPr txBox="1"/>
          <p:nvPr/>
        </p:nvSpPr>
        <p:spPr>
          <a:xfrm>
            <a:off x="10287000" y="246888"/>
            <a:ext cx="1344168" cy="411480"/>
          </a:xfrm>
          <a:prstGeom prst="rect">
            <a:avLst/>
          </a:prstGeom>
          <a:noFill/>
        </p:spPr>
        <p:txBody>
          <a:bodyPr wrap="square" lIns="0" rIns="0" tIns="0" bIns="0" anchor="t">
            <a:spAutoFit/>
          </a:bodyPr>
          <a:lstStyle/>
          <a:p>
            <a:pPr algn="r">
              <a:lnSpc>
                <a:spcPct val="112000"/>
              </a:lnSpc>
              <a:spcBef>
                <a:spcPts val="0"/>
              </a:spcBef>
              <a:spcAft>
                <a:spcPts val="0"/>
              </a:spcAft>
            </a:pPr>
            <a:r>
              <a:rPr sz="2200" b="1">
                <a:solidFill>
                  <a:srgbClr val="176C54"/>
                </a:solidFill>
                <a:latin typeface="Segoe UI"/>
              </a:rPr>
              <a:t>moniq.</a:t>
            </a:r>
          </a:p>
        </p:txBody>
      </p:sp>
      <p:sp>
        <p:nvSpPr>
          <p:cNvPr id="4" name="Rectangle 3"/>
          <p:cNvSpPr/>
          <p:nvPr/>
        </p:nvSpPr>
        <p:spPr>
          <a:xfrm>
            <a:off x="548640" y="6419088"/>
            <a:ext cx="11091672" cy="10972"/>
          </a:xfrm>
          <a:prstGeom prst="rect">
            <a:avLst/>
          </a:prstGeom>
          <a:solidFill>
            <a:srgbClr val="DCE5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48640" y="6519672"/>
            <a:ext cx="5394960" cy="182880"/>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Hacklanta 2026  /  Fintech</a:t>
            </a:r>
          </a:p>
        </p:txBody>
      </p:sp>
      <p:sp>
        <p:nvSpPr>
          <p:cNvPr id="6" name="TextBox 5"/>
          <p:cNvSpPr txBox="1"/>
          <p:nvPr/>
        </p:nvSpPr>
        <p:spPr>
          <a:xfrm>
            <a:off x="11018520" y="6492240"/>
            <a:ext cx="612648" cy="237744"/>
          </a:xfrm>
          <a:prstGeom prst="rect">
            <a:avLst/>
          </a:prstGeom>
          <a:noFill/>
        </p:spPr>
        <p:txBody>
          <a:bodyPr wrap="square" lIns="0" rIns="0" tIns="0" bIns="0" anchor="t">
            <a:spAutoFit/>
          </a:bodyPr>
          <a:lstStyle/>
          <a:p>
            <a:pPr algn="r">
              <a:lnSpc>
                <a:spcPct val="112000"/>
              </a:lnSpc>
              <a:spcBef>
                <a:spcPts val="0"/>
              </a:spcBef>
              <a:spcAft>
                <a:spcPts val="0"/>
              </a:spcAft>
            </a:pPr>
            <a:r>
              <a:rPr sz="1200" b="0">
                <a:solidFill>
                  <a:srgbClr val="596B60"/>
                </a:solidFill>
                <a:latin typeface="Segoe UI"/>
              </a:rPr>
              <a:t>01</a:t>
            </a:r>
          </a:p>
        </p:txBody>
      </p:sp>
      <p:sp>
        <p:nvSpPr>
          <p:cNvPr id="7" name="TextBox 6"/>
          <p:cNvSpPr txBox="1"/>
          <p:nvPr/>
        </p:nvSpPr>
        <p:spPr>
          <a:xfrm>
            <a:off x="548640" y="1234440"/>
            <a:ext cx="3977639" cy="1280160"/>
          </a:xfrm>
          <a:prstGeom prst="rect">
            <a:avLst/>
          </a:prstGeom>
          <a:noFill/>
        </p:spPr>
        <p:txBody>
          <a:bodyPr wrap="square" lIns="0" rIns="0" tIns="0" bIns="0" anchor="t">
            <a:spAutoFit/>
          </a:bodyPr>
          <a:lstStyle/>
          <a:p>
            <a:pPr>
              <a:lnSpc>
                <a:spcPct val="112000"/>
              </a:lnSpc>
              <a:spcBef>
                <a:spcPts val="0"/>
              </a:spcBef>
              <a:spcAft>
                <a:spcPts val="0"/>
              </a:spcAft>
            </a:pPr>
            <a:r>
              <a:rPr sz="8200" b="1">
                <a:solidFill>
                  <a:srgbClr val="176C54"/>
                </a:solidFill>
                <a:latin typeface="Segoe UI"/>
              </a:rPr>
              <a:t>moniq.</a:t>
            </a:r>
          </a:p>
        </p:txBody>
      </p:sp>
      <p:sp>
        <p:nvSpPr>
          <p:cNvPr id="8" name="TextBox 7"/>
          <p:cNvSpPr txBox="1"/>
          <p:nvPr/>
        </p:nvSpPr>
        <p:spPr>
          <a:xfrm>
            <a:off x="594360" y="2679192"/>
            <a:ext cx="3840480" cy="1143000"/>
          </a:xfrm>
          <a:prstGeom prst="rect">
            <a:avLst/>
          </a:prstGeom>
          <a:noFill/>
        </p:spPr>
        <p:txBody>
          <a:bodyPr wrap="square" lIns="0" rIns="0" tIns="0" bIns="0" anchor="t">
            <a:spAutoFit/>
          </a:bodyPr>
          <a:lstStyle/>
          <a:p>
            <a:pPr>
              <a:lnSpc>
                <a:spcPct val="112000"/>
              </a:lnSpc>
              <a:spcBef>
                <a:spcPts val="0"/>
              </a:spcBef>
              <a:spcAft>
                <a:spcPts val="0"/>
              </a:spcAft>
            </a:pPr>
            <a:r>
              <a:rPr sz="3200" b="1">
                <a:solidFill>
                  <a:srgbClr val="253C31"/>
                </a:solidFill>
                <a:latin typeface="Segoe UI"/>
              </a:rPr>
              <a:t>Spending,</a:t>
            </a:r>
          </a:p>
          <a:p>
            <a:pPr>
              <a:lnSpc>
                <a:spcPct val="112000"/>
              </a:lnSpc>
              <a:spcBef>
                <a:spcPts val="0"/>
              </a:spcBef>
              <a:spcAft>
                <a:spcPts val="0"/>
              </a:spcAft>
            </a:pPr>
            <a:r>
              <a:rPr sz="3200" b="1">
                <a:solidFill>
                  <a:srgbClr val="253C31"/>
                </a:solidFill>
                <a:latin typeface="Segoe UI"/>
              </a:rPr>
              <a:t>Made Smarter.</a:t>
            </a:r>
          </a:p>
        </p:txBody>
      </p:sp>
      <p:sp>
        <p:nvSpPr>
          <p:cNvPr id="9" name="TextBox 8"/>
          <p:cNvSpPr txBox="1"/>
          <p:nvPr/>
        </p:nvSpPr>
        <p:spPr>
          <a:xfrm>
            <a:off x="594360" y="4133087"/>
            <a:ext cx="3931920" cy="868680"/>
          </a:xfrm>
          <a:prstGeom prst="rect">
            <a:avLst/>
          </a:prstGeom>
          <a:noFill/>
        </p:spPr>
        <p:txBody>
          <a:bodyPr wrap="square" lIns="0" rIns="0" tIns="0" bIns="0" anchor="t">
            <a:spAutoFit/>
          </a:bodyPr>
          <a:lstStyle/>
          <a:p>
            <a:pPr>
              <a:lnSpc>
                <a:spcPct val="112000"/>
              </a:lnSpc>
              <a:spcBef>
                <a:spcPts val="0"/>
              </a:spcBef>
              <a:spcAft>
                <a:spcPts val="0"/>
              </a:spcAft>
            </a:pPr>
            <a:r>
              <a:rPr sz="2200" b="0">
                <a:solidFill>
                  <a:srgbClr val="596B60"/>
                </a:solidFill>
                <a:latin typeface="Segoe UI"/>
              </a:rPr>
              <a:t>AI-powered personal finance</a:t>
            </a:r>
          </a:p>
          <a:p>
            <a:pPr>
              <a:lnSpc>
                <a:spcPct val="112000"/>
              </a:lnSpc>
              <a:spcBef>
                <a:spcPts val="0"/>
              </a:spcBef>
              <a:spcAft>
                <a:spcPts val="0"/>
              </a:spcAft>
            </a:pPr>
            <a:r>
              <a:rPr sz="2200" b="0">
                <a:solidFill>
                  <a:srgbClr val="596B60"/>
                </a:solidFill>
                <a:latin typeface="Segoe UI"/>
              </a:rPr>
              <a:t>for college students.</a:t>
            </a:r>
          </a:p>
        </p:txBody>
      </p:sp>
      <p:sp>
        <p:nvSpPr>
          <p:cNvPr id="10" name="Rounded Rectangle 9"/>
          <p:cNvSpPr/>
          <p:nvPr/>
        </p:nvSpPr>
        <p:spPr>
          <a:xfrm>
            <a:off x="4791456" y="1380744"/>
            <a:ext cx="6885432" cy="3822191"/>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Picture 10" descr="Actual Moniq interface; isolated synthetic data. dashboard.png"/>
          <p:cNvPicPr>
            <a:picLocks noChangeAspect="1"/>
          </p:cNvPicPr>
          <p:nvPr/>
        </p:nvPicPr>
        <p:blipFill>
          <a:blip r:embed="rId2"/>
          <a:stretch>
            <a:fillRect/>
          </a:stretch>
        </p:blipFill>
        <p:spPr>
          <a:xfrm>
            <a:off x="4828032" y="1506628"/>
            <a:ext cx="6812279" cy="3570423"/>
          </a:xfrm>
          <a:prstGeom prst="rect">
            <a:avLst/>
          </a:prstGeom>
        </p:spPr>
      </p:pic>
      <p:sp>
        <p:nvSpPr>
          <p:cNvPr id="12" name="TextBox 11"/>
          <p:cNvSpPr txBox="1"/>
          <p:nvPr/>
        </p:nvSpPr>
        <p:spPr>
          <a:xfrm>
            <a:off x="4828032" y="5394960"/>
            <a:ext cx="6812280" cy="274320"/>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596B60"/>
                </a:solidFill>
                <a:latin typeface="Segoe UI"/>
              </a:rPr>
              <a:t>ACTUAL MONIQ DASHBOARD  ·  SYNTHETIC DATA</a:t>
            </a:r>
          </a:p>
        </p:txBody>
      </p:sp>
      <p:sp>
        <p:nvSpPr>
          <p:cNvPr id="13" name="TextBox 12"/>
          <p:cNvSpPr txBox="1"/>
          <p:nvPr/>
        </p:nvSpPr>
        <p:spPr>
          <a:xfrm>
            <a:off x="594360" y="5852160"/>
            <a:ext cx="6766560" cy="320040"/>
          </a:xfrm>
          <a:prstGeom prst="rect">
            <a:avLst/>
          </a:prstGeom>
          <a:noFill/>
        </p:spPr>
        <p:txBody>
          <a:bodyPr wrap="square" lIns="0" rIns="0" tIns="0" bIns="0" anchor="t">
            <a:spAutoFit/>
          </a:bodyPr>
          <a:lstStyle/>
          <a:p>
            <a:pPr>
              <a:lnSpc>
                <a:spcPct val="112000"/>
              </a:lnSpc>
              <a:spcBef>
                <a:spcPts val="0"/>
              </a:spcBef>
              <a:spcAft>
                <a:spcPts val="0"/>
              </a:spcAft>
            </a:pPr>
            <a:r>
              <a:rPr sz="1600" b="0">
                <a:solidFill>
                  <a:srgbClr val="596B60"/>
                </a:solidFill>
                <a:latin typeface="Segoe UI"/>
              </a:rPr>
              <a:t>Presenter: [edit name /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48640" y="320040"/>
            <a:ext cx="9144000" cy="256032"/>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596B60"/>
                </a:solidFill>
                <a:latin typeface="Segoe UI"/>
              </a:rPr>
              <a:t>THE PROBLEM</a:t>
            </a:r>
          </a:p>
        </p:txBody>
      </p:sp>
      <p:sp>
        <p:nvSpPr>
          <p:cNvPr id="3" name="TextBox 2"/>
          <p:cNvSpPr txBox="1"/>
          <p:nvPr/>
        </p:nvSpPr>
        <p:spPr>
          <a:xfrm>
            <a:off x="10287000" y="246888"/>
            <a:ext cx="1344168" cy="411480"/>
          </a:xfrm>
          <a:prstGeom prst="rect">
            <a:avLst/>
          </a:prstGeom>
          <a:noFill/>
        </p:spPr>
        <p:txBody>
          <a:bodyPr wrap="square" lIns="0" rIns="0" tIns="0" bIns="0" anchor="t">
            <a:spAutoFit/>
          </a:bodyPr>
          <a:lstStyle/>
          <a:p>
            <a:pPr algn="r">
              <a:lnSpc>
                <a:spcPct val="112000"/>
              </a:lnSpc>
              <a:spcBef>
                <a:spcPts val="0"/>
              </a:spcBef>
              <a:spcAft>
                <a:spcPts val="0"/>
              </a:spcAft>
            </a:pPr>
            <a:r>
              <a:rPr sz="2200" b="1">
                <a:solidFill>
                  <a:srgbClr val="176C54"/>
                </a:solidFill>
                <a:latin typeface="Segoe UI"/>
              </a:rPr>
              <a:t>moniq.</a:t>
            </a:r>
          </a:p>
        </p:txBody>
      </p:sp>
      <p:sp>
        <p:nvSpPr>
          <p:cNvPr id="4" name="Rectangle 3"/>
          <p:cNvSpPr/>
          <p:nvPr/>
        </p:nvSpPr>
        <p:spPr>
          <a:xfrm>
            <a:off x="548640" y="6419088"/>
            <a:ext cx="11091672" cy="10972"/>
          </a:xfrm>
          <a:prstGeom prst="rect">
            <a:avLst/>
          </a:prstGeom>
          <a:solidFill>
            <a:srgbClr val="DCE5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48640" y="6519672"/>
            <a:ext cx="5394960" cy="182880"/>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Hacklanta 2026  /  Fintech</a:t>
            </a:r>
          </a:p>
        </p:txBody>
      </p:sp>
      <p:sp>
        <p:nvSpPr>
          <p:cNvPr id="6" name="TextBox 5"/>
          <p:cNvSpPr txBox="1"/>
          <p:nvPr/>
        </p:nvSpPr>
        <p:spPr>
          <a:xfrm>
            <a:off x="11018520" y="6492240"/>
            <a:ext cx="612648" cy="237744"/>
          </a:xfrm>
          <a:prstGeom prst="rect">
            <a:avLst/>
          </a:prstGeom>
          <a:noFill/>
        </p:spPr>
        <p:txBody>
          <a:bodyPr wrap="square" lIns="0" rIns="0" tIns="0" bIns="0" anchor="t">
            <a:spAutoFit/>
          </a:bodyPr>
          <a:lstStyle/>
          <a:p>
            <a:pPr algn="r">
              <a:lnSpc>
                <a:spcPct val="112000"/>
              </a:lnSpc>
              <a:spcBef>
                <a:spcPts val="0"/>
              </a:spcBef>
              <a:spcAft>
                <a:spcPts val="0"/>
              </a:spcAft>
            </a:pPr>
            <a:r>
              <a:rPr sz="1200" b="0">
                <a:solidFill>
                  <a:srgbClr val="596B60"/>
                </a:solidFill>
                <a:latin typeface="Segoe UI"/>
              </a:rPr>
              <a:t>02</a:t>
            </a:r>
          </a:p>
        </p:txBody>
      </p:sp>
      <p:sp>
        <p:nvSpPr>
          <p:cNvPr id="7" name="TextBox 6"/>
          <p:cNvSpPr txBox="1"/>
          <p:nvPr/>
        </p:nvSpPr>
        <p:spPr>
          <a:xfrm>
            <a:off x="548640" y="868680"/>
            <a:ext cx="11018520" cy="1133856"/>
          </a:xfrm>
          <a:prstGeom prst="rect">
            <a:avLst/>
          </a:prstGeom>
          <a:noFill/>
        </p:spPr>
        <p:txBody>
          <a:bodyPr wrap="square" lIns="0" rIns="0" tIns="0" bIns="0" anchor="t">
            <a:spAutoFit/>
          </a:bodyPr>
          <a:lstStyle/>
          <a:p>
            <a:pPr>
              <a:lnSpc>
                <a:spcPct val="112000"/>
              </a:lnSpc>
              <a:spcBef>
                <a:spcPts val="0"/>
              </a:spcBef>
              <a:spcAft>
                <a:spcPts val="0"/>
              </a:spcAft>
            </a:pPr>
            <a:r>
              <a:rPr sz="3300" b="1">
                <a:solidFill>
                  <a:srgbClr val="253C31"/>
                </a:solidFill>
                <a:latin typeface="Segoe UI"/>
              </a:rPr>
              <a:t>College finances are</a:t>
            </a:r>
          </a:p>
          <a:p>
            <a:pPr>
              <a:lnSpc>
                <a:spcPct val="112000"/>
              </a:lnSpc>
              <a:spcBef>
                <a:spcPts val="0"/>
              </a:spcBef>
              <a:spcAft>
                <a:spcPts val="0"/>
              </a:spcAft>
            </a:pPr>
            <a:r>
              <a:rPr sz="3300" b="1">
                <a:solidFill>
                  <a:srgbClr val="253C31"/>
                </a:solidFill>
                <a:latin typeface="Segoe UI"/>
              </a:rPr>
              <a:t>unnecessarily complicated.</a:t>
            </a:r>
          </a:p>
        </p:txBody>
      </p:sp>
      <p:sp>
        <p:nvSpPr>
          <p:cNvPr id="8" name="Rounded Rectangle 7"/>
          <p:cNvSpPr/>
          <p:nvPr/>
        </p:nvSpPr>
        <p:spPr>
          <a:xfrm>
            <a:off x="548640" y="2450592"/>
            <a:ext cx="3465576" cy="317296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77240" y="2688336"/>
            <a:ext cx="1097280" cy="640080"/>
          </a:xfrm>
          <a:prstGeom prst="rect">
            <a:avLst/>
          </a:prstGeom>
          <a:noFill/>
        </p:spPr>
        <p:txBody>
          <a:bodyPr wrap="square" lIns="0" rIns="0" tIns="0" bIns="0" anchor="t">
            <a:spAutoFit/>
          </a:bodyPr>
          <a:lstStyle/>
          <a:p>
            <a:pPr>
              <a:lnSpc>
                <a:spcPct val="112000"/>
              </a:lnSpc>
              <a:spcBef>
                <a:spcPts val="0"/>
              </a:spcBef>
              <a:spcAft>
                <a:spcPts val="0"/>
              </a:spcAft>
            </a:pPr>
            <a:r>
              <a:rPr sz="3800" b="1">
                <a:solidFill>
                  <a:srgbClr val="176C54"/>
                </a:solidFill>
                <a:latin typeface="Segoe UI"/>
              </a:rPr>
              <a:t>01</a:t>
            </a:r>
          </a:p>
        </p:txBody>
      </p:sp>
      <p:sp>
        <p:nvSpPr>
          <p:cNvPr id="10" name="TextBox 9"/>
          <p:cNvSpPr txBox="1"/>
          <p:nvPr/>
        </p:nvSpPr>
        <p:spPr>
          <a:xfrm>
            <a:off x="777240" y="3529584"/>
            <a:ext cx="3035808" cy="841248"/>
          </a:xfrm>
          <a:prstGeom prst="rect">
            <a:avLst/>
          </a:prstGeom>
          <a:noFill/>
        </p:spPr>
        <p:txBody>
          <a:bodyPr wrap="square" lIns="0" rIns="0" tIns="0" bIns="0" anchor="t">
            <a:spAutoFit/>
          </a:bodyPr>
          <a:lstStyle/>
          <a:p>
            <a:pPr>
              <a:lnSpc>
                <a:spcPct val="112000"/>
              </a:lnSpc>
              <a:spcBef>
                <a:spcPts val="0"/>
              </a:spcBef>
              <a:spcAft>
                <a:spcPts val="0"/>
              </a:spcAft>
            </a:pPr>
            <a:r>
              <a:rPr sz="2200" b="1">
                <a:solidFill>
                  <a:srgbClr val="253C31"/>
                </a:solidFill>
                <a:latin typeface="Segoe UI"/>
              </a:rPr>
              <a:t>Money is scattered.</a:t>
            </a:r>
          </a:p>
        </p:txBody>
      </p:sp>
      <p:sp>
        <p:nvSpPr>
          <p:cNvPr id="11" name="TextBox 10"/>
          <p:cNvSpPr txBox="1"/>
          <p:nvPr/>
        </p:nvSpPr>
        <p:spPr>
          <a:xfrm>
            <a:off x="777240" y="4416552"/>
            <a:ext cx="3035808" cy="822960"/>
          </a:xfrm>
          <a:prstGeom prst="rect">
            <a:avLst/>
          </a:prstGeom>
          <a:noFill/>
        </p:spPr>
        <p:txBody>
          <a:bodyPr wrap="square" lIns="0" rIns="0" tIns="0" bIns="0" anchor="t">
            <a:spAutoFit/>
          </a:bodyPr>
          <a:lstStyle/>
          <a:p>
            <a:pPr>
              <a:lnSpc>
                <a:spcPct val="112000"/>
              </a:lnSpc>
              <a:spcBef>
                <a:spcPts val="0"/>
              </a:spcBef>
              <a:spcAft>
                <a:spcPts val="0"/>
              </a:spcAft>
            </a:pPr>
            <a:r>
              <a:rPr sz="1900" b="0">
                <a:solidFill>
                  <a:srgbClr val="596B60"/>
                </a:solidFill>
                <a:latin typeface="Segoe UI"/>
              </a:rPr>
              <a:t>Bank alerts, spreadsheets,</a:t>
            </a:r>
          </a:p>
          <a:p>
            <a:pPr>
              <a:lnSpc>
                <a:spcPct val="112000"/>
              </a:lnSpc>
              <a:spcBef>
                <a:spcPts val="0"/>
              </a:spcBef>
              <a:spcAft>
                <a:spcPts val="0"/>
              </a:spcAft>
            </a:pPr>
            <a:r>
              <a:rPr sz="1900" b="0">
                <a:solidFill>
                  <a:srgbClr val="596B60"/>
                </a:solidFill>
                <a:latin typeface="Segoe UI"/>
              </a:rPr>
              <a:t>and separate apps.</a:t>
            </a:r>
          </a:p>
        </p:txBody>
      </p:sp>
      <p:sp>
        <p:nvSpPr>
          <p:cNvPr id="12" name="TextBox 11"/>
          <p:cNvSpPr txBox="1"/>
          <p:nvPr/>
        </p:nvSpPr>
        <p:spPr>
          <a:xfrm>
            <a:off x="777240" y="5303520"/>
            <a:ext cx="3035808" cy="228600"/>
          </a:xfrm>
          <a:prstGeom prst="rect">
            <a:avLst/>
          </a:prstGeom>
          <a:noFill/>
        </p:spPr>
        <p:txBody>
          <a:bodyPr wrap="square" lIns="0" rIns="0" tIns="0" bIns="0" anchor="t">
            <a:spAutoFit/>
          </a:bodyPr>
          <a:lstStyle/>
          <a:p>
            <a:pPr>
              <a:lnSpc>
                <a:spcPct val="112000"/>
              </a:lnSpc>
              <a:spcBef>
                <a:spcPts val="0"/>
              </a:spcBef>
              <a:spcAft>
                <a:spcPts val="0"/>
              </a:spcAft>
            </a:pPr>
            <a:r>
              <a:rPr sz="1000" b="1">
                <a:solidFill>
                  <a:srgbClr val="596B60"/>
                </a:solidFill>
                <a:latin typeface="Segoe UI"/>
              </a:rPr>
              <a:t>FIND THE RECORDS</a:t>
            </a:r>
          </a:p>
        </p:txBody>
      </p:sp>
      <p:sp>
        <p:nvSpPr>
          <p:cNvPr id="13" name="Rounded Rectangle 12"/>
          <p:cNvSpPr/>
          <p:nvPr/>
        </p:nvSpPr>
        <p:spPr>
          <a:xfrm>
            <a:off x="4361688" y="2450592"/>
            <a:ext cx="3465576" cy="317296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90288" y="2688336"/>
            <a:ext cx="1097280" cy="640080"/>
          </a:xfrm>
          <a:prstGeom prst="rect">
            <a:avLst/>
          </a:prstGeom>
          <a:noFill/>
        </p:spPr>
        <p:txBody>
          <a:bodyPr wrap="square" lIns="0" rIns="0" tIns="0" bIns="0" anchor="t">
            <a:spAutoFit/>
          </a:bodyPr>
          <a:lstStyle/>
          <a:p>
            <a:pPr>
              <a:lnSpc>
                <a:spcPct val="112000"/>
              </a:lnSpc>
              <a:spcBef>
                <a:spcPts val="0"/>
              </a:spcBef>
              <a:spcAft>
                <a:spcPts val="0"/>
              </a:spcAft>
            </a:pPr>
            <a:r>
              <a:rPr sz="3800" b="1">
                <a:solidFill>
                  <a:srgbClr val="176C54"/>
                </a:solidFill>
                <a:latin typeface="Segoe UI"/>
              </a:rPr>
              <a:t>02</a:t>
            </a:r>
          </a:p>
        </p:txBody>
      </p:sp>
      <p:sp>
        <p:nvSpPr>
          <p:cNvPr id="15" name="TextBox 14"/>
          <p:cNvSpPr txBox="1"/>
          <p:nvPr/>
        </p:nvSpPr>
        <p:spPr>
          <a:xfrm>
            <a:off x="4590288" y="3529584"/>
            <a:ext cx="3035808" cy="841248"/>
          </a:xfrm>
          <a:prstGeom prst="rect">
            <a:avLst/>
          </a:prstGeom>
          <a:noFill/>
        </p:spPr>
        <p:txBody>
          <a:bodyPr wrap="square" lIns="0" rIns="0" tIns="0" bIns="0" anchor="t">
            <a:spAutoFit/>
          </a:bodyPr>
          <a:lstStyle/>
          <a:p>
            <a:pPr>
              <a:lnSpc>
                <a:spcPct val="112000"/>
              </a:lnSpc>
              <a:spcBef>
                <a:spcPts val="0"/>
              </a:spcBef>
              <a:spcAft>
                <a:spcPts val="0"/>
              </a:spcAft>
            </a:pPr>
            <a:r>
              <a:rPr sz="2200" b="1">
                <a:solidFill>
                  <a:srgbClr val="253C31"/>
                </a:solidFill>
                <a:latin typeface="Segoe UI"/>
              </a:rPr>
              <a:t>Tracking takes effort.</a:t>
            </a:r>
          </a:p>
        </p:txBody>
      </p:sp>
      <p:sp>
        <p:nvSpPr>
          <p:cNvPr id="16" name="TextBox 15"/>
          <p:cNvSpPr txBox="1"/>
          <p:nvPr/>
        </p:nvSpPr>
        <p:spPr>
          <a:xfrm>
            <a:off x="4590288" y="4416552"/>
            <a:ext cx="3035808" cy="822960"/>
          </a:xfrm>
          <a:prstGeom prst="rect">
            <a:avLst/>
          </a:prstGeom>
          <a:noFill/>
        </p:spPr>
        <p:txBody>
          <a:bodyPr wrap="square" lIns="0" rIns="0" tIns="0" bIns="0" anchor="t">
            <a:spAutoFit/>
          </a:bodyPr>
          <a:lstStyle/>
          <a:p>
            <a:pPr>
              <a:lnSpc>
                <a:spcPct val="112000"/>
              </a:lnSpc>
              <a:spcBef>
                <a:spcPts val="0"/>
              </a:spcBef>
              <a:spcAft>
                <a:spcPts val="0"/>
              </a:spcAft>
            </a:pPr>
            <a:r>
              <a:rPr sz="1900" b="0">
                <a:solidFill>
                  <a:srgbClr val="596B60"/>
                </a:solidFill>
                <a:latin typeface="Segoe UI"/>
              </a:rPr>
              <a:t>New income and purchases</a:t>
            </a:r>
          </a:p>
          <a:p>
            <a:pPr>
              <a:lnSpc>
                <a:spcPct val="112000"/>
              </a:lnSpc>
              <a:spcBef>
                <a:spcPts val="0"/>
              </a:spcBef>
              <a:spcAft>
                <a:spcPts val="0"/>
              </a:spcAft>
            </a:pPr>
            <a:r>
              <a:rPr sz="1900" b="0">
                <a:solidFill>
                  <a:srgbClr val="596B60"/>
                </a:solidFill>
                <a:latin typeface="Segoe UI"/>
              </a:rPr>
              <a:t>are easy to miss.</a:t>
            </a:r>
          </a:p>
        </p:txBody>
      </p:sp>
      <p:sp>
        <p:nvSpPr>
          <p:cNvPr id="17" name="TextBox 16"/>
          <p:cNvSpPr txBox="1"/>
          <p:nvPr/>
        </p:nvSpPr>
        <p:spPr>
          <a:xfrm>
            <a:off x="4590288" y="5303520"/>
            <a:ext cx="3035808" cy="228600"/>
          </a:xfrm>
          <a:prstGeom prst="rect">
            <a:avLst/>
          </a:prstGeom>
          <a:noFill/>
        </p:spPr>
        <p:txBody>
          <a:bodyPr wrap="square" lIns="0" rIns="0" tIns="0" bIns="0" anchor="t">
            <a:spAutoFit/>
          </a:bodyPr>
          <a:lstStyle/>
          <a:p>
            <a:pPr>
              <a:lnSpc>
                <a:spcPct val="112000"/>
              </a:lnSpc>
              <a:spcBef>
                <a:spcPts val="0"/>
              </a:spcBef>
              <a:spcAft>
                <a:spcPts val="0"/>
              </a:spcAft>
            </a:pPr>
            <a:r>
              <a:rPr sz="1000" b="1">
                <a:solidFill>
                  <a:srgbClr val="596B60"/>
                </a:solidFill>
                <a:latin typeface="Segoe UI"/>
              </a:rPr>
              <a:t>KEEP UP WITH ACTIVITY</a:t>
            </a:r>
          </a:p>
        </p:txBody>
      </p:sp>
      <p:sp>
        <p:nvSpPr>
          <p:cNvPr id="18" name="Rounded Rectangle 17"/>
          <p:cNvSpPr/>
          <p:nvPr/>
        </p:nvSpPr>
        <p:spPr>
          <a:xfrm>
            <a:off x="8174736" y="2450592"/>
            <a:ext cx="3465576" cy="317296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403336" y="2688336"/>
            <a:ext cx="1097280" cy="640080"/>
          </a:xfrm>
          <a:prstGeom prst="rect">
            <a:avLst/>
          </a:prstGeom>
          <a:noFill/>
        </p:spPr>
        <p:txBody>
          <a:bodyPr wrap="square" lIns="0" rIns="0" tIns="0" bIns="0" anchor="t">
            <a:spAutoFit/>
          </a:bodyPr>
          <a:lstStyle/>
          <a:p>
            <a:pPr>
              <a:lnSpc>
                <a:spcPct val="112000"/>
              </a:lnSpc>
              <a:spcBef>
                <a:spcPts val="0"/>
              </a:spcBef>
              <a:spcAft>
                <a:spcPts val="0"/>
              </a:spcAft>
            </a:pPr>
            <a:r>
              <a:rPr sz="3800" b="1">
                <a:solidFill>
                  <a:srgbClr val="176C54"/>
                </a:solidFill>
                <a:latin typeface="Segoe UI"/>
              </a:rPr>
              <a:t>03</a:t>
            </a:r>
          </a:p>
        </p:txBody>
      </p:sp>
      <p:sp>
        <p:nvSpPr>
          <p:cNvPr id="20" name="TextBox 19"/>
          <p:cNvSpPr txBox="1"/>
          <p:nvPr/>
        </p:nvSpPr>
        <p:spPr>
          <a:xfrm>
            <a:off x="8403336" y="3529584"/>
            <a:ext cx="3035808" cy="841248"/>
          </a:xfrm>
          <a:prstGeom prst="rect">
            <a:avLst/>
          </a:prstGeom>
          <a:noFill/>
        </p:spPr>
        <p:txBody>
          <a:bodyPr wrap="square" lIns="0" rIns="0" tIns="0" bIns="0" anchor="t">
            <a:spAutoFit/>
          </a:bodyPr>
          <a:lstStyle/>
          <a:p>
            <a:pPr>
              <a:lnSpc>
                <a:spcPct val="112000"/>
              </a:lnSpc>
              <a:spcBef>
                <a:spcPts val="0"/>
              </a:spcBef>
              <a:spcAft>
                <a:spcPts val="0"/>
              </a:spcAft>
            </a:pPr>
            <a:r>
              <a:rPr sz="2200" b="1">
                <a:solidFill>
                  <a:srgbClr val="253C31"/>
                </a:solidFill>
                <a:latin typeface="Segoe UI"/>
              </a:rPr>
              <a:t>Planning adds stress.</a:t>
            </a:r>
          </a:p>
        </p:txBody>
      </p:sp>
      <p:sp>
        <p:nvSpPr>
          <p:cNvPr id="21" name="TextBox 20"/>
          <p:cNvSpPr txBox="1"/>
          <p:nvPr/>
        </p:nvSpPr>
        <p:spPr>
          <a:xfrm>
            <a:off x="8403336" y="4416552"/>
            <a:ext cx="3035808" cy="822960"/>
          </a:xfrm>
          <a:prstGeom prst="rect">
            <a:avLst/>
          </a:prstGeom>
          <a:noFill/>
        </p:spPr>
        <p:txBody>
          <a:bodyPr wrap="square" lIns="0" rIns="0" tIns="0" bIns="0" anchor="t">
            <a:spAutoFit/>
          </a:bodyPr>
          <a:lstStyle/>
          <a:p>
            <a:pPr>
              <a:lnSpc>
                <a:spcPct val="112000"/>
              </a:lnSpc>
              <a:spcBef>
                <a:spcPts val="0"/>
              </a:spcBef>
              <a:spcAft>
                <a:spcPts val="0"/>
              </a:spcAft>
            </a:pPr>
            <a:r>
              <a:rPr sz="1900" b="0">
                <a:solidFill>
                  <a:srgbClr val="596B60"/>
                </a:solidFill>
                <a:latin typeface="Segoe UI"/>
              </a:rPr>
              <a:t>Shared bills, rent,</a:t>
            </a:r>
          </a:p>
          <a:p>
            <a:pPr>
              <a:lnSpc>
                <a:spcPct val="112000"/>
              </a:lnSpc>
              <a:spcBef>
                <a:spcPts val="0"/>
              </a:spcBef>
              <a:spcAft>
                <a:spcPts val="0"/>
              </a:spcAft>
            </a:pPr>
            <a:r>
              <a:rPr sz="1900" b="0">
                <a:solidFill>
                  <a:srgbClr val="596B60"/>
                </a:solidFill>
                <a:latin typeface="Segoe UI"/>
              </a:rPr>
              <a:t>and savings goals.</a:t>
            </a:r>
          </a:p>
        </p:txBody>
      </p:sp>
      <p:sp>
        <p:nvSpPr>
          <p:cNvPr id="22" name="TextBox 21"/>
          <p:cNvSpPr txBox="1"/>
          <p:nvPr/>
        </p:nvSpPr>
        <p:spPr>
          <a:xfrm>
            <a:off x="8403336" y="5303520"/>
            <a:ext cx="3035808" cy="228600"/>
          </a:xfrm>
          <a:prstGeom prst="rect">
            <a:avLst/>
          </a:prstGeom>
          <a:noFill/>
        </p:spPr>
        <p:txBody>
          <a:bodyPr wrap="square" lIns="0" rIns="0" tIns="0" bIns="0" anchor="t">
            <a:spAutoFit/>
          </a:bodyPr>
          <a:lstStyle/>
          <a:p>
            <a:pPr>
              <a:lnSpc>
                <a:spcPct val="112000"/>
              </a:lnSpc>
              <a:spcBef>
                <a:spcPts val="0"/>
              </a:spcBef>
              <a:spcAft>
                <a:spcPts val="0"/>
              </a:spcAft>
            </a:pPr>
            <a:r>
              <a:rPr sz="1000" b="1">
                <a:solidFill>
                  <a:srgbClr val="596B60"/>
                </a:solidFill>
                <a:latin typeface="Segoe UI"/>
              </a:rPr>
              <a:t>KNOW WHAT COMES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48640" y="320040"/>
            <a:ext cx="9144000" cy="256032"/>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596B60"/>
                </a:solidFill>
                <a:latin typeface="Segoe UI"/>
              </a:rPr>
              <a:t>OUR SOLUTION</a:t>
            </a:r>
          </a:p>
        </p:txBody>
      </p:sp>
      <p:sp>
        <p:nvSpPr>
          <p:cNvPr id="3" name="TextBox 2"/>
          <p:cNvSpPr txBox="1"/>
          <p:nvPr/>
        </p:nvSpPr>
        <p:spPr>
          <a:xfrm>
            <a:off x="10287000" y="246888"/>
            <a:ext cx="1344168" cy="411480"/>
          </a:xfrm>
          <a:prstGeom prst="rect">
            <a:avLst/>
          </a:prstGeom>
          <a:noFill/>
        </p:spPr>
        <p:txBody>
          <a:bodyPr wrap="square" lIns="0" rIns="0" tIns="0" bIns="0" anchor="t">
            <a:spAutoFit/>
          </a:bodyPr>
          <a:lstStyle/>
          <a:p>
            <a:pPr algn="r">
              <a:lnSpc>
                <a:spcPct val="112000"/>
              </a:lnSpc>
              <a:spcBef>
                <a:spcPts val="0"/>
              </a:spcBef>
              <a:spcAft>
                <a:spcPts val="0"/>
              </a:spcAft>
            </a:pPr>
            <a:r>
              <a:rPr sz="2200" b="1">
                <a:solidFill>
                  <a:srgbClr val="176C54"/>
                </a:solidFill>
                <a:latin typeface="Segoe UI"/>
              </a:rPr>
              <a:t>moniq.</a:t>
            </a:r>
          </a:p>
        </p:txBody>
      </p:sp>
      <p:sp>
        <p:nvSpPr>
          <p:cNvPr id="4" name="Rectangle 3"/>
          <p:cNvSpPr/>
          <p:nvPr/>
        </p:nvSpPr>
        <p:spPr>
          <a:xfrm>
            <a:off x="548640" y="6419088"/>
            <a:ext cx="11091672" cy="10972"/>
          </a:xfrm>
          <a:prstGeom prst="rect">
            <a:avLst/>
          </a:prstGeom>
          <a:solidFill>
            <a:srgbClr val="DCE5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48640" y="6519672"/>
            <a:ext cx="5394960" cy="182880"/>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Hacklanta 2026  /  Fintech</a:t>
            </a:r>
          </a:p>
        </p:txBody>
      </p:sp>
      <p:sp>
        <p:nvSpPr>
          <p:cNvPr id="6" name="TextBox 5"/>
          <p:cNvSpPr txBox="1"/>
          <p:nvPr/>
        </p:nvSpPr>
        <p:spPr>
          <a:xfrm>
            <a:off x="11018520" y="6492240"/>
            <a:ext cx="612648" cy="237744"/>
          </a:xfrm>
          <a:prstGeom prst="rect">
            <a:avLst/>
          </a:prstGeom>
          <a:noFill/>
        </p:spPr>
        <p:txBody>
          <a:bodyPr wrap="square" lIns="0" rIns="0" tIns="0" bIns="0" anchor="t">
            <a:spAutoFit/>
          </a:bodyPr>
          <a:lstStyle/>
          <a:p>
            <a:pPr algn="r">
              <a:lnSpc>
                <a:spcPct val="112000"/>
              </a:lnSpc>
              <a:spcBef>
                <a:spcPts val="0"/>
              </a:spcBef>
              <a:spcAft>
                <a:spcPts val="0"/>
              </a:spcAft>
            </a:pPr>
            <a:r>
              <a:rPr sz="1200" b="0">
                <a:solidFill>
                  <a:srgbClr val="596B60"/>
                </a:solidFill>
                <a:latin typeface="Segoe UI"/>
              </a:rPr>
              <a:t>03</a:t>
            </a:r>
          </a:p>
        </p:txBody>
      </p:sp>
      <p:sp>
        <p:nvSpPr>
          <p:cNvPr id="7" name="TextBox 6"/>
          <p:cNvSpPr txBox="1"/>
          <p:nvPr/>
        </p:nvSpPr>
        <p:spPr>
          <a:xfrm>
            <a:off x="548640" y="868680"/>
            <a:ext cx="11018520" cy="1133856"/>
          </a:xfrm>
          <a:prstGeom prst="rect">
            <a:avLst/>
          </a:prstGeom>
          <a:noFill/>
        </p:spPr>
        <p:txBody>
          <a:bodyPr wrap="square" lIns="0" rIns="0" tIns="0" bIns="0" anchor="t">
            <a:spAutoFit/>
          </a:bodyPr>
          <a:lstStyle/>
          <a:p>
            <a:pPr>
              <a:lnSpc>
                <a:spcPct val="112000"/>
              </a:lnSpc>
              <a:spcBef>
                <a:spcPts val="0"/>
              </a:spcBef>
              <a:spcAft>
                <a:spcPts val="0"/>
              </a:spcAft>
            </a:pPr>
            <a:r>
              <a:rPr sz="3300" b="1">
                <a:solidFill>
                  <a:srgbClr val="253C31"/>
                </a:solidFill>
                <a:latin typeface="Segoe UI"/>
              </a:rPr>
              <a:t>One intelligent home for your money.</a:t>
            </a:r>
          </a:p>
        </p:txBody>
      </p:sp>
      <p:sp>
        <p:nvSpPr>
          <p:cNvPr id="8" name="Rounded Rectangle 7"/>
          <p:cNvSpPr/>
          <p:nvPr/>
        </p:nvSpPr>
        <p:spPr>
          <a:xfrm>
            <a:off x="566928" y="2103120"/>
            <a:ext cx="457200" cy="457200"/>
          </a:xfrm>
          <a:prstGeom prst="roundRect">
            <a:avLst>
              <a:gd name="adj" fmla="val 10000"/>
            </a:avLst>
          </a:prstGeom>
          <a:solidFill>
            <a:srgbClr val="EAF1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66928" y="2148839"/>
            <a:ext cx="457200" cy="320040"/>
          </a:xfrm>
          <a:prstGeom prst="rect">
            <a:avLst/>
          </a:prstGeom>
          <a:noFill/>
        </p:spPr>
        <p:txBody>
          <a:bodyPr wrap="square" lIns="0" rIns="0" tIns="0" bIns="0" anchor="t">
            <a:spAutoFit/>
          </a:bodyPr>
          <a:lstStyle/>
          <a:p>
            <a:pPr algn="ctr">
              <a:lnSpc>
                <a:spcPct val="112000"/>
              </a:lnSpc>
              <a:spcBef>
                <a:spcPts val="0"/>
              </a:spcBef>
              <a:spcAft>
                <a:spcPts val="0"/>
              </a:spcAft>
            </a:pPr>
            <a:r>
              <a:rPr sz="2000" b="1">
                <a:solidFill>
                  <a:srgbClr val="176C54"/>
                </a:solidFill>
                <a:latin typeface="Segoe UI"/>
              </a:rPr>
              <a:t>1</a:t>
            </a:r>
          </a:p>
        </p:txBody>
      </p:sp>
      <p:sp>
        <p:nvSpPr>
          <p:cNvPr id="10" name="TextBox 9"/>
          <p:cNvSpPr txBox="1"/>
          <p:nvPr/>
        </p:nvSpPr>
        <p:spPr>
          <a:xfrm>
            <a:off x="1243584" y="2103120"/>
            <a:ext cx="4023360" cy="457200"/>
          </a:xfrm>
          <a:prstGeom prst="rect">
            <a:avLst/>
          </a:prstGeom>
          <a:noFill/>
        </p:spPr>
        <p:txBody>
          <a:bodyPr wrap="square" lIns="0" rIns="0" tIns="0" bIns="0" anchor="t">
            <a:spAutoFit/>
          </a:bodyPr>
          <a:lstStyle/>
          <a:p>
            <a:pPr>
              <a:lnSpc>
                <a:spcPct val="112000"/>
              </a:lnSpc>
              <a:spcBef>
                <a:spcPts val="0"/>
              </a:spcBef>
              <a:spcAft>
                <a:spcPts val="0"/>
              </a:spcAft>
            </a:pPr>
            <a:r>
              <a:rPr sz="2300" b="1">
                <a:solidFill>
                  <a:srgbClr val="253C31"/>
                </a:solidFill>
                <a:latin typeface="Segoe UI"/>
              </a:rPr>
              <a:t>Bring activity together</a:t>
            </a:r>
          </a:p>
        </p:txBody>
      </p:sp>
      <p:sp>
        <p:nvSpPr>
          <p:cNvPr id="11" name="TextBox 10"/>
          <p:cNvSpPr txBox="1"/>
          <p:nvPr/>
        </p:nvSpPr>
        <p:spPr>
          <a:xfrm>
            <a:off x="1243584" y="2633472"/>
            <a:ext cx="4114800" cy="658368"/>
          </a:xfrm>
          <a:prstGeom prst="rect">
            <a:avLst/>
          </a:prstGeom>
          <a:noFill/>
        </p:spPr>
        <p:txBody>
          <a:bodyPr wrap="square" lIns="0" rIns="0" tIns="0" bIns="0" anchor="t">
            <a:spAutoFit/>
          </a:bodyPr>
          <a:lstStyle/>
          <a:p>
            <a:pPr>
              <a:lnSpc>
                <a:spcPct val="112000"/>
              </a:lnSpc>
              <a:spcBef>
                <a:spcPts val="0"/>
              </a:spcBef>
              <a:spcAft>
                <a:spcPts val="0"/>
              </a:spcAft>
            </a:pPr>
            <a:r>
              <a:rPr sz="1700" b="0">
                <a:solidFill>
                  <a:srgbClr val="596B60"/>
                </a:solidFill>
                <a:latin typeface="Segoe UI"/>
              </a:rPr>
              <a:t>Gmail with consent · CSV imports</a:t>
            </a:r>
          </a:p>
        </p:txBody>
      </p:sp>
      <p:sp>
        <p:nvSpPr>
          <p:cNvPr id="12" name="Rounded Rectangle 11"/>
          <p:cNvSpPr/>
          <p:nvPr/>
        </p:nvSpPr>
        <p:spPr>
          <a:xfrm>
            <a:off x="566928" y="3246120"/>
            <a:ext cx="457200" cy="457200"/>
          </a:xfrm>
          <a:prstGeom prst="roundRect">
            <a:avLst>
              <a:gd name="adj" fmla="val 10000"/>
            </a:avLst>
          </a:prstGeom>
          <a:solidFill>
            <a:srgbClr val="EAF1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66928" y="3291839"/>
            <a:ext cx="457200" cy="320040"/>
          </a:xfrm>
          <a:prstGeom prst="rect">
            <a:avLst/>
          </a:prstGeom>
          <a:noFill/>
        </p:spPr>
        <p:txBody>
          <a:bodyPr wrap="square" lIns="0" rIns="0" tIns="0" bIns="0" anchor="t">
            <a:spAutoFit/>
          </a:bodyPr>
          <a:lstStyle/>
          <a:p>
            <a:pPr algn="ctr">
              <a:lnSpc>
                <a:spcPct val="112000"/>
              </a:lnSpc>
              <a:spcBef>
                <a:spcPts val="0"/>
              </a:spcBef>
              <a:spcAft>
                <a:spcPts val="0"/>
              </a:spcAft>
            </a:pPr>
            <a:r>
              <a:rPr sz="2000" b="1">
                <a:solidFill>
                  <a:srgbClr val="176C54"/>
                </a:solidFill>
                <a:latin typeface="Segoe UI"/>
              </a:rPr>
              <a:t>2</a:t>
            </a:r>
          </a:p>
        </p:txBody>
      </p:sp>
      <p:sp>
        <p:nvSpPr>
          <p:cNvPr id="14" name="TextBox 13"/>
          <p:cNvSpPr txBox="1"/>
          <p:nvPr/>
        </p:nvSpPr>
        <p:spPr>
          <a:xfrm>
            <a:off x="1243584" y="3246120"/>
            <a:ext cx="4023360" cy="457200"/>
          </a:xfrm>
          <a:prstGeom prst="rect">
            <a:avLst/>
          </a:prstGeom>
          <a:noFill/>
        </p:spPr>
        <p:txBody>
          <a:bodyPr wrap="square" lIns="0" rIns="0" tIns="0" bIns="0" anchor="t">
            <a:spAutoFit/>
          </a:bodyPr>
          <a:lstStyle/>
          <a:p>
            <a:pPr>
              <a:lnSpc>
                <a:spcPct val="112000"/>
              </a:lnSpc>
              <a:spcBef>
                <a:spcPts val="0"/>
              </a:spcBef>
              <a:spcAft>
                <a:spcPts val="0"/>
              </a:spcAft>
            </a:pPr>
            <a:r>
              <a:rPr sz="2300" b="1">
                <a:solidFill>
                  <a:srgbClr val="253C31"/>
                </a:solidFill>
                <a:latin typeface="Segoe UI"/>
              </a:rPr>
              <a:t>Review and organize</a:t>
            </a:r>
          </a:p>
        </p:txBody>
      </p:sp>
      <p:sp>
        <p:nvSpPr>
          <p:cNvPr id="15" name="TextBox 14"/>
          <p:cNvSpPr txBox="1"/>
          <p:nvPr/>
        </p:nvSpPr>
        <p:spPr>
          <a:xfrm>
            <a:off x="1243584" y="3776472"/>
            <a:ext cx="4114800" cy="658368"/>
          </a:xfrm>
          <a:prstGeom prst="rect">
            <a:avLst/>
          </a:prstGeom>
          <a:noFill/>
        </p:spPr>
        <p:txBody>
          <a:bodyPr wrap="square" lIns="0" rIns="0" tIns="0" bIns="0" anchor="t">
            <a:spAutoFit/>
          </a:bodyPr>
          <a:lstStyle/>
          <a:p>
            <a:pPr>
              <a:lnSpc>
                <a:spcPct val="112000"/>
              </a:lnSpc>
              <a:spcBef>
                <a:spcPts val="0"/>
              </a:spcBef>
              <a:spcAft>
                <a:spcPts val="0"/>
              </a:spcAft>
            </a:pPr>
            <a:r>
              <a:rPr sz="1700" b="0">
                <a:solidFill>
                  <a:srgbClr val="596B60"/>
                </a:solidFill>
                <a:latin typeface="Segoe UI"/>
              </a:rPr>
              <a:t>ML categories · Confirmed ledger</a:t>
            </a:r>
          </a:p>
        </p:txBody>
      </p:sp>
      <p:sp>
        <p:nvSpPr>
          <p:cNvPr id="16" name="Rounded Rectangle 15"/>
          <p:cNvSpPr/>
          <p:nvPr/>
        </p:nvSpPr>
        <p:spPr>
          <a:xfrm>
            <a:off x="566928" y="4389120"/>
            <a:ext cx="457200" cy="457200"/>
          </a:xfrm>
          <a:prstGeom prst="roundRect">
            <a:avLst>
              <a:gd name="adj" fmla="val 10000"/>
            </a:avLst>
          </a:prstGeom>
          <a:solidFill>
            <a:srgbClr val="EAF1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66928" y="4434840"/>
            <a:ext cx="457200" cy="320040"/>
          </a:xfrm>
          <a:prstGeom prst="rect">
            <a:avLst/>
          </a:prstGeom>
          <a:noFill/>
        </p:spPr>
        <p:txBody>
          <a:bodyPr wrap="square" lIns="0" rIns="0" tIns="0" bIns="0" anchor="t">
            <a:spAutoFit/>
          </a:bodyPr>
          <a:lstStyle/>
          <a:p>
            <a:pPr algn="ctr">
              <a:lnSpc>
                <a:spcPct val="112000"/>
              </a:lnSpc>
              <a:spcBef>
                <a:spcPts val="0"/>
              </a:spcBef>
              <a:spcAft>
                <a:spcPts val="0"/>
              </a:spcAft>
            </a:pPr>
            <a:r>
              <a:rPr sz="2000" b="1">
                <a:solidFill>
                  <a:srgbClr val="176C54"/>
                </a:solidFill>
                <a:latin typeface="Segoe UI"/>
              </a:rPr>
              <a:t>3</a:t>
            </a:r>
          </a:p>
        </p:txBody>
      </p:sp>
      <p:sp>
        <p:nvSpPr>
          <p:cNvPr id="18" name="TextBox 17"/>
          <p:cNvSpPr txBox="1"/>
          <p:nvPr/>
        </p:nvSpPr>
        <p:spPr>
          <a:xfrm>
            <a:off x="1243584" y="4389120"/>
            <a:ext cx="4023360" cy="457200"/>
          </a:xfrm>
          <a:prstGeom prst="rect">
            <a:avLst/>
          </a:prstGeom>
          <a:noFill/>
        </p:spPr>
        <p:txBody>
          <a:bodyPr wrap="square" lIns="0" rIns="0" tIns="0" bIns="0" anchor="t">
            <a:spAutoFit/>
          </a:bodyPr>
          <a:lstStyle/>
          <a:p>
            <a:pPr>
              <a:lnSpc>
                <a:spcPct val="112000"/>
              </a:lnSpc>
              <a:spcBef>
                <a:spcPts val="0"/>
              </a:spcBef>
              <a:spcAft>
                <a:spcPts val="0"/>
              </a:spcAft>
            </a:pPr>
            <a:r>
              <a:rPr sz="2300" b="1">
                <a:solidFill>
                  <a:srgbClr val="253C31"/>
                </a:solidFill>
                <a:latin typeface="Segoe UI"/>
              </a:rPr>
              <a:t>Plan your next decision</a:t>
            </a:r>
          </a:p>
        </p:txBody>
      </p:sp>
      <p:sp>
        <p:nvSpPr>
          <p:cNvPr id="19" name="TextBox 18"/>
          <p:cNvSpPr txBox="1"/>
          <p:nvPr/>
        </p:nvSpPr>
        <p:spPr>
          <a:xfrm>
            <a:off x="1243584" y="4919472"/>
            <a:ext cx="4114800" cy="658368"/>
          </a:xfrm>
          <a:prstGeom prst="rect">
            <a:avLst/>
          </a:prstGeom>
          <a:noFill/>
        </p:spPr>
        <p:txBody>
          <a:bodyPr wrap="square" lIns="0" rIns="0" tIns="0" bIns="0" anchor="t">
            <a:spAutoFit/>
          </a:bodyPr>
          <a:lstStyle/>
          <a:p>
            <a:pPr>
              <a:lnSpc>
                <a:spcPct val="112000"/>
              </a:lnSpc>
              <a:spcBef>
                <a:spcPts val="0"/>
              </a:spcBef>
              <a:spcAft>
                <a:spcPts val="0"/>
              </a:spcAft>
            </a:pPr>
            <a:r>
              <a:rPr sz="1700" b="0">
                <a:solidFill>
                  <a:srgbClr val="596B60"/>
                </a:solidFill>
                <a:latin typeface="Segoe UI"/>
              </a:rPr>
              <a:t>Budgets · Goals · Forecasts · Circles</a:t>
            </a:r>
          </a:p>
        </p:txBody>
      </p:sp>
      <p:sp>
        <p:nvSpPr>
          <p:cNvPr id="20" name="Rounded Rectangle 19"/>
          <p:cNvSpPr/>
          <p:nvPr/>
        </p:nvSpPr>
        <p:spPr>
          <a:xfrm>
            <a:off x="5650992" y="1956816"/>
            <a:ext cx="6016752" cy="3547872"/>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Actual Moniq interface; isolated synthetic data. dashboard.png"/>
          <p:cNvPicPr>
            <a:picLocks noChangeAspect="1"/>
          </p:cNvPicPr>
          <p:nvPr/>
        </p:nvPicPr>
        <p:blipFill>
          <a:blip r:embed="rId2"/>
          <a:stretch>
            <a:fillRect/>
          </a:stretch>
        </p:blipFill>
        <p:spPr>
          <a:xfrm>
            <a:off x="5687568" y="2173184"/>
            <a:ext cx="5943600" cy="3115134"/>
          </a:xfrm>
          <a:prstGeom prst="rect">
            <a:avLst/>
          </a:prstGeom>
        </p:spPr>
      </p:pic>
      <p:sp>
        <p:nvSpPr>
          <p:cNvPr id="22" name="TextBox 21"/>
          <p:cNvSpPr txBox="1"/>
          <p:nvPr/>
        </p:nvSpPr>
        <p:spPr>
          <a:xfrm>
            <a:off x="5687568" y="5614416"/>
            <a:ext cx="5943600" cy="320040"/>
          </a:xfrm>
          <a:prstGeom prst="rect">
            <a:avLst/>
          </a:prstGeom>
          <a:noFill/>
        </p:spPr>
        <p:txBody>
          <a:bodyPr wrap="square" lIns="0" rIns="0" tIns="0" bIns="0" anchor="t">
            <a:spAutoFit/>
          </a:bodyPr>
          <a:lstStyle/>
          <a:p>
            <a:pPr>
              <a:lnSpc>
                <a:spcPct val="112000"/>
              </a:lnSpc>
              <a:spcBef>
                <a:spcPts val="0"/>
              </a:spcBef>
              <a:spcAft>
                <a:spcPts val="0"/>
              </a:spcAft>
            </a:pPr>
            <a:r>
              <a:rPr sz="1700" b="1">
                <a:solidFill>
                  <a:srgbClr val="176C54"/>
                </a:solidFill>
                <a:latin typeface="Segoe UI"/>
              </a:rPr>
              <a:t>Confirmed activity refreshes the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48640" y="320040"/>
            <a:ext cx="9144000" cy="256032"/>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596B60"/>
                </a:solidFill>
                <a:latin typeface="Segoe UI"/>
              </a:rPr>
              <a:t>THE WOW MOMENT</a:t>
            </a:r>
          </a:p>
        </p:txBody>
      </p:sp>
      <p:sp>
        <p:nvSpPr>
          <p:cNvPr id="3" name="TextBox 2"/>
          <p:cNvSpPr txBox="1"/>
          <p:nvPr/>
        </p:nvSpPr>
        <p:spPr>
          <a:xfrm>
            <a:off x="10287000" y="246888"/>
            <a:ext cx="1344168" cy="411480"/>
          </a:xfrm>
          <a:prstGeom prst="rect">
            <a:avLst/>
          </a:prstGeom>
          <a:noFill/>
        </p:spPr>
        <p:txBody>
          <a:bodyPr wrap="square" lIns="0" rIns="0" tIns="0" bIns="0" anchor="t">
            <a:spAutoFit/>
          </a:bodyPr>
          <a:lstStyle/>
          <a:p>
            <a:pPr algn="r">
              <a:lnSpc>
                <a:spcPct val="112000"/>
              </a:lnSpc>
              <a:spcBef>
                <a:spcPts val="0"/>
              </a:spcBef>
              <a:spcAft>
                <a:spcPts val="0"/>
              </a:spcAft>
            </a:pPr>
            <a:r>
              <a:rPr sz="2200" b="1">
                <a:solidFill>
                  <a:srgbClr val="176C54"/>
                </a:solidFill>
                <a:latin typeface="Segoe UI"/>
              </a:rPr>
              <a:t>moniq.</a:t>
            </a:r>
          </a:p>
        </p:txBody>
      </p:sp>
      <p:sp>
        <p:nvSpPr>
          <p:cNvPr id="4" name="Rectangle 3"/>
          <p:cNvSpPr/>
          <p:nvPr/>
        </p:nvSpPr>
        <p:spPr>
          <a:xfrm>
            <a:off x="548640" y="6419088"/>
            <a:ext cx="11091672" cy="10972"/>
          </a:xfrm>
          <a:prstGeom prst="rect">
            <a:avLst/>
          </a:prstGeom>
          <a:solidFill>
            <a:srgbClr val="DCE5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48640" y="6519672"/>
            <a:ext cx="5394960" cy="182880"/>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Hacklanta 2026  /  Fintech</a:t>
            </a:r>
          </a:p>
        </p:txBody>
      </p:sp>
      <p:sp>
        <p:nvSpPr>
          <p:cNvPr id="6" name="TextBox 5"/>
          <p:cNvSpPr txBox="1"/>
          <p:nvPr/>
        </p:nvSpPr>
        <p:spPr>
          <a:xfrm>
            <a:off x="11018520" y="6492240"/>
            <a:ext cx="612648" cy="237744"/>
          </a:xfrm>
          <a:prstGeom prst="rect">
            <a:avLst/>
          </a:prstGeom>
          <a:noFill/>
        </p:spPr>
        <p:txBody>
          <a:bodyPr wrap="square" lIns="0" rIns="0" tIns="0" bIns="0" anchor="t">
            <a:spAutoFit/>
          </a:bodyPr>
          <a:lstStyle/>
          <a:p>
            <a:pPr algn="r">
              <a:lnSpc>
                <a:spcPct val="112000"/>
              </a:lnSpc>
              <a:spcBef>
                <a:spcPts val="0"/>
              </a:spcBef>
              <a:spcAft>
                <a:spcPts val="0"/>
              </a:spcAft>
            </a:pPr>
            <a:r>
              <a:rPr sz="1200" b="0">
                <a:solidFill>
                  <a:srgbClr val="596B60"/>
                </a:solidFill>
                <a:latin typeface="Segoe UI"/>
              </a:rPr>
              <a:t>04</a:t>
            </a:r>
          </a:p>
        </p:txBody>
      </p:sp>
      <p:sp>
        <p:nvSpPr>
          <p:cNvPr id="7" name="TextBox 6"/>
          <p:cNvSpPr txBox="1"/>
          <p:nvPr/>
        </p:nvSpPr>
        <p:spPr>
          <a:xfrm>
            <a:off x="548640" y="868680"/>
            <a:ext cx="11018520" cy="1133856"/>
          </a:xfrm>
          <a:prstGeom prst="rect">
            <a:avLst/>
          </a:prstGeom>
          <a:noFill/>
        </p:spPr>
        <p:txBody>
          <a:bodyPr wrap="square" lIns="0" rIns="0" tIns="0" bIns="0" anchor="t">
            <a:spAutoFit/>
          </a:bodyPr>
          <a:lstStyle/>
          <a:p>
            <a:pPr>
              <a:lnSpc>
                <a:spcPct val="112000"/>
              </a:lnSpc>
              <a:spcBef>
                <a:spcPts val="0"/>
              </a:spcBef>
              <a:spcAft>
                <a:spcPts val="0"/>
              </a:spcAft>
            </a:pPr>
            <a:r>
              <a:rPr sz="3300" b="1">
                <a:solidFill>
                  <a:srgbClr val="253C31"/>
                </a:solidFill>
                <a:latin typeface="Segoe UI"/>
              </a:rPr>
              <a:t>From an email alert to an updated balance.</a:t>
            </a:r>
          </a:p>
        </p:txBody>
      </p:sp>
      <p:sp>
        <p:nvSpPr>
          <p:cNvPr id="8" name="TextBox 7"/>
          <p:cNvSpPr txBox="1"/>
          <p:nvPr/>
        </p:nvSpPr>
        <p:spPr>
          <a:xfrm>
            <a:off x="566928" y="1728216"/>
            <a:ext cx="10972800" cy="320040"/>
          </a:xfrm>
          <a:prstGeom prst="rect">
            <a:avLst/>
          </a:prstGeom>
          <a:noFill/>
        </p:spPr>
        <p:txBody>
          <a:bodyPr wrap="square" lIns="0" rIns="0" tIns="0" bIns="0" anchor="t">
            <a:spAutoFit/>
          </a:bodyPr>
          <a:lstStyle/>
          <a:p>
            <a:pPr>
              <a:lnSpc>
                <a:spcPct val="112000"/>
              </a:lnSpc>
              <a:spcBef>
                <a:spcPts val="0"/>
              </a:spcBef>
              <a:spcAft>
                <a:spcPts val="0"/>
              </a:spcAft>
            </a:pPr>
            <a:r>
              <a:rPr sz="1300" b="1">
                <a:solidFill>
                  <a:srgbClr val="596B60"/>
                </a:solidFill>
                <a:latin typeface="Segoe UI"/>
              </a:rPr>
              <a:t>SYNTHETIC DEMONSTRATION  ·  ACTUAL PARSER + DATABASE UPDATES</a:t>
            </a:r>
          </a:p>
        </p:txBody>
      </p:sp>
      <p:sp>
        <p:nvSpPr>
          <p:cNvPr id="9" name="Rounded Rectangle 8"/>
          <p:cNvSpPr/>
          <p:nvPr/>
        </p:nvSpPr>
        <p:spPr>
          <a:xfrm>
            <a:off x="548640" y="2221992"/>
            <a:ext cx="2971800" cy="1307592"/>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77240" y="2359152"/>
            <a:ext cx="2514600" cy="685800"/>
          </a:xfrm>
          <a:prstGeom prst="rect">
            <a:avLst/>
          </a:prstGeom>
          <a:noFill/>
        </p:spPr>
        <p:txBody>
          <a:bodyPr wrap="square" lIns="0" rIns="0" tIns="0" bIns="0" anchor="t">
            <a:spAutoFit/>
          </a:bodyPr>
          <a:lstStyle/>
          <a:p>
            <a:pPr>
              <a:lnSpc>
                <a:spcPct val="112000"/>
              </a:lnSpc>
              <a:spcBef>
                <a:spcPts val="0"/>
              </a:spcBef>
              <a:spcAft>
                <a:spcPts val="0"/>
              </a:spcAft>
            </a:pPr>
            <a:r>
              <a:rPr sz="4200" b="1">
                <a:solidFill>
                  <a:srgbClr val="176C54"/>
                </a:solidFill>
                <a:latin typeface="Segoe UI"/>
              </a:rPr>
              <a:t>$10</a:t>
            </a:r>
          </a:p>
        </p:txBody>
      </p:sp>
      <p:sp>
        <p:nvSpPr>
          <p:cNvPr id="11" name="TextBox 10"/>
          <p:cNvSpPr txBox="1"/>
          <p:nvPr/>
        </p:nvSpPr>
        <p:spPr>
          <a:xfrm>
            <a:off x="777240" y="3108960"/>
            <a:ext cx="2560320" cy="274320"/>
          </a:xfrm>
          <a:prstGeom prst="rect">
            <a:avLst/>
          </a:prstGeom>
          <a:noFill/>
        </p:spPr>
        <p:txBody>
          <a:bodyPr wrap="square" lIns="0" rIns="0" tIns="0" bIns="0" anchor="t">
            <a:spAutoFit/>
          </a:bodyPr>
          <a:lstStyle/>
          <a:p>
            <a:pPr>
              <a:lnSpc>
                <a:spcPct val="112000"/>
              </a:lnSpc>
              <a:spcBef>
                <a:spcPts val="0"/>
              </a:spcBef>
              <a:spcAft>
                <a:spcPts val="0"/>
              </a:spcAft>
            </a:pPr>
            <a:r>
              <a:rPr sz="1500" b="0">
                <a:solidFill>
                  <a:srgbClr val="596B60"/>
                </a:solidFill>
                <a:latin typeface="Segoe UI"/>
              </a:rPr>
              <a:t>Starting estimate</a:t>
            </a:r>
          </a:p>
        </p:txBody>
      </p:sp>
      <p:sp>
        <p:nvSpPr>
          <p:cNvPr id="12" name="Rounded Rectangle 11"/>
          <p:cNvSpPr/>
          <p:nvPr/>
        </p:nvSpPr>
        <p:spPr>
          <a:xfrm>
            <a:off x="4608576" y="2221992"/>
            <a:ext cx="2971800" cy="1307592"/>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837176" y="2359152"/>
            <a:ext cx="2514600" cy="685800"/>
          </a:xfrm>
          <a:prstGeom prst="rect">
            <a:avLst/>
          </a:prstGeom>
          <a:noFill/>
        </p:spPr>
        <p:txBody>
          <a:bodyPr wrap="square" lIns="0" rIns="0" tIns="0" bIns="0" anchor="t">
            <a:spAutoFit/>
          </a:bodyPr>
          <a:lstStyle/>
          <a:p>
            <a:pPr>
              <a:lnSpc>
                <a:spcPct val="112000"/>
              </a:lnSpc>
              <a:spcBef>
                <a:spcPts val="0"/>
              </a:spcBef>
              <a:spcAft>
                <a:spcPts val="0"/>
              </a:spcAft>
            </a:pPr>
            <a:r>
              <a:rPr sz="4200" b="1">
                <a:solidFill>
                  <a:srgbClr val="176C54"/>
                </a:solidFill>
                <a:latin typeface="Segoe UI"/>
              </a:rPr>
              <a:t>$410</a:t>
            </a:r>
          </a:p>
        </p:txBody>
      </p:sp>
      <p:sp>
        <p:nvSpPr>
          <p:cNvPr id="14" name="TextBox 13"/>
          <p:cNvSpPr txBox="1"/>
          <p:nvPr/>
        </p:nvSpPr>
        <p:spPr>
          <a:xfrm>
            <a:off x="4837176" y="3108960"/>
            <a:ext cx="2560320" cy="274320"/>
          </a:xfrm>
          <a:prstGeom prst="rect">
            <a:avLst/>
          </a:prstGeom>
          <a:noFill/>
        </p:spPr>
        <p:txBody>
          <a:bodyPr wrap="square" lIns="0" rIns="0" tIns="0" bIns="0" anchor="t">
            <a:spAutoFit/>
          </a:bodyPr>
          <a:lstStyle/>
          <a:p>
            <a:pPr>
              <a:lnSpc>
                <a:spcPct val="112000"/>
              </a:lnSpc>
              <a:spcBef>
                <a:spcPts val="0"/>
              </a:spcBef>
              <a:spcAft>
                <a:spcPts val="0"/>
              </a:spcAft>
            </a:pPr>
            <a:r>
              <a:rPr sz="1500" b="0">
                <a:solidFill>
                  <a:srgbClr val="596B60"/>
                </a:solidFill>
                <a:latin typeface="Segoe UI"/>
              </a:rPr>
              <a:t>Paycheck confirmed</a:t>
            </a:r>
          </a:p>
        </p:txBody>
      </p:sp>
      <p:sp>
        <p:nvSpPr>
          <p:cNvPr id="15" name="Rounded Rectangle 14"/>
          <p:cNvSpPr/>
          <p:nvPr/>
        </p:nvSpPr>
        <p:spPr>
          <a:xfrm>
            <a:off x="8668512" y="2221992"/>
            <a:ext cx="2971800" cy="1307592"/>
          </a:xfrm>
          <a:prstGeom prst="roundRect">
            <a:avLst>
              <a:gd name="adj" fmla="val 10000"/>
            </a:avLst>
          </a:prstGeom>
          <a:solidFill>
            <a:srgbClr val="176C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897112" y="2359152"/>
            <a:ext cx="2514600" cy="685800"/>
          </a:xfrm>
          <a:prstGeom prst="rect">
            <a:avLst/>
          </a:prstGeom>
          <a:noFill/>
        </p:spPr>
        <p:txBody>
          <a:bodyPr wrap="square" lIns="0" rIns="0" tIns="0" bIns="0" anchor="t">
            <a:spAutoFit/>
          </a:bodyPr>
          <a:lstStyle/>
          <a:p>
            <a:pPr>
              <a:lnSpc>
                <a:spcPct val="112000"/>
              </a:lnSpc>
              <a:spcBef>
                <a:spcPts val="0"/>
              </a:spcBef>
              <a:spcAft>
                <a:spcPts val="0"/>
              </a:spcAft>
            </a:pPr>
            <a:r>
              <a:rPr sz="4200" b="1">
                <a:solidFill>
                  <a:srgbClr val="FFFFFF"/>
                </a:solidFill>
                <a:latin typeface="Segoe UI"/>
              </a:rPr>
              <a:t>$395</a:t>
            </a:r>
          </a:p>
        </p:txBody>
      </p:sp>
      <p:sp>
        <p:nvSpPr>
          <p:cNvPr id="17" name="TextBox 16"/>
          <p:cNvSpPr txBox="1"/>
          <p:nvPr/>
        </p:nvSpPr>
        <p:spPr>
          <a:xfrm>
            <a:off x="8897112" y="3108960"/>
            <a:ext cx="2560320" cy="274320"/>
          </a:xfrm>
          <a:prstGeom prst="rect">
            <a:avLst/>
          </a:prstGeom>
          <a:noFill/>
        </p:spPr>
        <p:txBody>
          <a:bodyPr wrap="square" lIns="0" rIns="0" tIns="0" bIns="0" anchor="t">
            <a:spAutoFit/>
          </a:bodyPr>
          <a:lstStyle/>
          <a:p>
            <a:pPr>
              <a:lnSpc>
                <a:spcPct val="112000"/>
              </a:lnSpc>
              <a:spcBef>
                <a:spcPts val="0"/>
              </a:spcBef>
              <a:spcAft>
                <a:spcPts val="0"/>
              </a:spcAft>
            </a:pPr>
            <a:r>
              <a:rPr sz="1500" b="0">
                <a:solidFill>
                  <a:srgbClr val="FFFFFF"/>
                </a:solidFill>
                <a:latin typeface="Segoe UI"/>
              </a:rPr>
              <a:t>Purchase confirmed</a:t>
            </a:r>
          </a:p>
        </p:txBody>
      </p:sp>
      <p:sp>
        <p:nvSpPr>
          <p:cNvPr id="18" name="TextBox 17"/>
          <p:cNvSpPr txBox="1"/>
          <p:nvPr/>
        </p:nvSpPr>
        <p:spPr>
          <a:xfrm>
            <a:off x="3566160" y="2478024"/>
            <a:ext cx="1005840" cy="310896"/>
          </a:xfrm>
          <a:prstGeom prst="rect">
            <a:avLst/>
          </a:prstGeom>
          <a:noFill/>
        </p:spPr>
        <p:txBody>
          <a:bodyPr wrap="square" lIns="0" rIns="0" tIns="0" bIns="0" anchor="t">
            <a:spAutoFit/>
          </a:bodyPr>
          <a:lstStyle/>
          <a:p>
            <a:pPr algn="ctr">
              <a:lnSpc>
                <a:spcPct val="112000"/>
              </a:lnSpc>
              <a:spcBef>
                <a:spcPts val="0"/>
              </a:spcBef>
              <a:spcAft>
                <a:spcPts val="0"/>
              </a:spcAft>
            </a:pPr>
            <a:r>
              <a:rPr sz="1600" b="1">
                <a:solidFill>
                  <a:srgbClr val="176C54"/>
                </a:solidFill>
                <a:latin typeface="Segoe UI"/>
              </a:rPr>
              <a:t>+ $400</a:t>
            </a:r>
          </a:p>
        </p:txBody>
      </p:sp>
      <p:sp>
        <p:nvSpPr>
          <p:cNvPr id="19" name="TextBox 18"/>
          <p:cNvSpPr txBox="1"/>
          <p:nvPr/>
        </p:nvSpPr>
        <p:spPr>
          <a:xfrm>
            <a:off x="3566160" y="2862072"/>
            <a:ext cx="1005840" cy="402336"/>
          </a:xfrm>
          <a:prstGeom prst="rect">
            <a:avLst/>
          </a:prstGeom>
          <a:noFill/>
        </p:spPr>
        <p:txBody>
          <a:bodyPr wrap="square" lIns="0" rIns="0" tIns="0" bIns="0" anchor="t">
            <a:spAutoFit/>
          </a:bodyPr>
          <a:lstStyle/>
          <a:p>
            <a:pPr algn="ctr">
              <a:lnSpc>
                <a:spcPct val="112000"/>
              </a:lnSpc>
              <a:spcBef>
                <a:spcPts val="0"/>
              </a:spcBef>
              <a:spcAft>
                <a:spcPts val="0"/>
              </a:spcAft>
            </a:pPr>
            <a:r>
              <a:rPr sz="2200" b="1">
                <a:solidFill>
                  <a:srgbClr val="176C54"/>
                </a:solidFill>
                <a:latin typeface="Segoe UI"/>
              </a:rPr>
              <a:t>→</a:t>
            </a:r>
          </a:p>
        </p:txBody>
      </p:sp>
      <p:sp>
        <p:nvSpPr>
          <p:cNvPr id="20" name="TextBox 19"/>
          <p:cNvSpPr txBox="1"/>
          <p:nvPr/>
        </p:nvSpPr>
        <p:spPr>
          <a:xfrm>
            <a:off x="7616952" y="2478024"/>
            <a:ext cx="1005840" cy="310896"/>
          </a:xfrm>
          <a:prstGeom prst="rect">
            <a:avLst/>
          </a:prstGeom>
          <a:noFill/>
        </p:spPr>
        <p:txBody>
          <a:bodyPr wrap="square" lIns="0" rIns="0" tIns="0" bIns="0" anchor="t">
            <a:spAutoFit/>
          </a:bodyPr>
          <a:lstStyle/>
          <a:p>
            <a:pPr algn="ctr">
              <a:lnSpc>
                <a:spcPct val="112000"/>
              </a:lnSpc>
              <a:spcBef>
                <a:spcPts val="0"/>
              </a:spcBef>
              <a:spcAft>
                <a:spcPts val="0"/>
              </a:spcAft>
            </a:pPr>
            <a:r>
              <a:rPr sz="1600" b="1">
                <a:solidFill>
                  <a:srgbClr val="176C54"/>
                </a:solidFill>
                <a:latin typeface="Segoe UI"/>
              </a:rPr>
              <a:t>− $15</a:t>
            </a:r>
          </a:p>
        </p:txBody>
      </p:sp>
      <p:sp>
        <p:nvSpPr>
          <p:cNvPr id="21" name="TextBox 20"/>
          <p:cNvSpPr txBox="1"/>
          <p:nvPr/>
        </p:nvSpPr>
        <p:spPr>
          <a:xfrm>
            <a:off x="7616952" y="2862072"/>
            <a:ext cx="1005840" cy="402336"/>
          </a:xfrm>
          <a:prstGeom prst="rect">
            <a:avLst/>
          </a:prstGeom>
          <a:noFill/>
        </p:spPr>
        <p:txBody>
          <a:bodyPr wrap="square" lIns="0" rIns="0" tIns="0" bIns="0" anchor="t">
            <a:spAutoFit/>
          </a:bodyPr>
          <a:lstStyle/>
          <a:p>
            <a:pPr algn="ctr">
              <a:lnSpc>
                <a:spcPct val="112000"/>
              </a:lnSpc>
              <a:spcBef>
                <a:spcPts val="0"/>
              </a:spcBef>
              <a:spcAft>
                <a:spcPts val="0"/>
              </a:spcAft>
            </a:pPr>
            <a:r>
              <a:rPr sz="2200" b="1">
                <a:solidFill>
                  <a:srgbClr val="176C54"/>
                </a:solidFill>
                <a:latin typeface="Segoe UI"/>
              </a:rPr>
              <a:t>→</a:t>
            </a:r>
          </a:p>
        </p:txBody>
      </p:sp>
      <p:sp>
        <p:nvSpPr>
          <p:cNvPr id="22" name="Rounded Rectangle 21"/>
          <p:cNvSpPr/>
          <p:nvPr/>
        </p:nvSpPr>
        <p:spPr>
          <a:xfrm>
            <a:off x="557784" y="3785615"/>
            <a:ext cx="7114032" cy="1810512"/>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Actual Moniq interface; isolated synthetic data. review.png"/>
          <p:cNvPicPr>
            <a:picLocks noChangeAspect="1"/>
          </p:cNvPicPr>
          <p:nvPr/>
        </p:nvPicPr>
        <p:blipFill>
          <a:blip r:embed="rId2"/>
          <a:stretch>
            <a:fillRect/>
          </a:stretch>
        </p:blipFill>
        <p:spPr>
          <a:xfrm>
            <a:off x="594360" y="4063801"/>
            <a:ext cx="7040880" cy="1254140"/>
          </a:xfrm>
          <a:prstGeom prst="rect">
            <a:avLst/>
          </a:prstGeom>
        </p:spPr>
      </p:pic>
      <p:sp>
        <p:nvSpPr>
          <p:cNvPr id="24" name="Rounded Rectangle 23"/>
          <p:cNvSpPr/>
          <p:nvPr/>
        </p:nvSpPr>
        <p:spPr>
          <a:xfrm>
            <a:off x="7872984" y="4005072"/>
            <a:ext cx="3758184" cy="1316736"/>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Actual Moniq interface; isolated synthetic data. balance.png"/>
          <p:cNvPicPr>
            <a:picLocks noChangeAspect="1"/>
          </p:cNvPicPr>
          <p:nvPr/>
        </p:nvPicPr>
        <p:blipFill>
          <a:blip r:embed="rId3"/>
          <a:stretch>
            <a:fillRect/>
          </a:stretch>
        </p:blipFill>
        <p:spPr>
          <a:xfrm>
            <a:off x="7909560" y="4147711"/>
            <a:ext cx="3685032" cy="1031456"/>
          </a:xfrm>
          <a:prstGeom prst="rect">
            <a:avLst/>
          </a:prstGeom>
        </p:spPr>
      </p:pic>
      <p:sp>
        <p:nvSpPr>
          <p:cNvPr id="26" name="TextBox 25"/>
          <p:cNvSpPr txBox="1"/>
          <p:nvPr/>
        </p:nvSpPr>
        <p:spPr>
          <a:xfrm>
            <a:off x="594360" y="5760720"/>
            <a:ext cx="11018520" cy="320040"/>
          </a:xfrm>
          <a:prstGeom prst="rect">
            <a:avLst/>
          </a:prstGeom>
          <a:noFill/>
        </p:spPr>
        <p:txBody>
          <a:bodyPr wrap="square" lIns="0" rIns="0" tIns="0" bIns="0" anchor="t">
            <a:spAutoFit/>
          </a:bodyPr>
          <a:lstStyle/>
          <a:p>
            <a:pPr>
              <a:lnSpc>
                <a:spcPct val="112000"/>
              </a:lnSpc>
              <a:spcBef>
                <a:spcPts val="0"/>
              </a:spcBef>
              <a:spcAft>
                <a:spcPts val="0"/>
              </a:spcAft>
            </a:pPr>
            <a:r>
              <a:rPr sz="1700" b="1">
                <a:solidFill>
                  <a:srgbClr val="176C54"/>
                </a:solidFill>
                <a:latin typeface="Segoe UI"/>
              </a:rPr>
              <a:t>Detect → Extract → Categorize → Assign account → Confirm → Recalculate</a:t>
            </a:r>
          </a:p>
        </p:txBody>
      </p:sp>
      <p:sp>
        <p:nvSpPr>
          <p:cNvPr id="27" name="TextBox 26"/>
          <p:cNvSpPr txBox="1"/>
          <p:nvPr/>
        </p:nvSpPr>
        <p:spPr>
          <a:xfrm>
            <a:off x="594360" y="6135624"/>
            <a:ext cx="11018520" cy="228600"/>
          </a:xfrm>
          <a:prstGeom prst="rect">
            <a:avLst/>
          </a:prstGeom>
          <a:noFill/>
        </p:spPr>
        <p:txBody>
          <a:bodyPr wrap="square" lIns="0" rIns="0" tIns="0" bIns="0" anchor="t">
            <a:spAutoFit/>
          </a:bodyPr>
          <a:lstStyle/>
          <a:p>
            <a:pPr>
              <a:lnSpc>
                <a:spcPct val="112000"/>
              </a:lnSpc>
              <a:spcBef>
                <a:spcPts val="0"/>
              </a:spcBef>
              <a:spcAft>
                <a:spcPts val="0"/>
              </a:spcAft>
            </a:pPr>
            <a:r>
              <a:rPr sz="1300" b="0">
                <a:solidFill>
                  <a:srgbClr val="596B60"/>
                </a:solidFill>
                <a:latin typeface="Segoe UI"/>
              </a:rPr>
              <a:t>Gmail-derived balances are estimates, not verified bank balances.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48640" y="320040"/>
            <a:ext cx="9144000" cy="256032"/>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596B60"/>
                </a:solidFill>
                <a:latin typeface="Segoe UI"/>
              </a:rPr>
              <a:t>SMARTAPPROVE + MONIQ CIRCLES</a:t>
            </a:r>
          </a:p>
        </p:txBody>
      </p:sp>
      <p:sp>
        <p:nvSpPr>
          <p:cNvPr id="3" name="TextBox 2"/>
          <p:cNvSpPr txBox="1"/>
          <p:nvPr/>
        </p:nvSpPr>
        <p:spPr>
          <a:xfrm>
            <a:off x="10287000" y="246888"/>
            <a:ext cx="1344168" cy="411480"/>
          </a:xfrm>
          <a:prstGeom prst="rect">
            <a:avLst/>
          </a:prstGeom>
          <a:noFill/>
        </p:spPr>
        <p:txBody>
          <a:bodyPr wrap="square" lIns="0" rIns="0" tIns="0" bIns="0" anchor="t">
            <a:spAutoFit/>
          </a:bodyPr>
          <a:lstStyle/>
          <a:p>
            <a:pPr algn="r">
              <a:lnSpc>
                <a:spcPct val="112000"/>
              </a:lnSpc>
              <a:spcBef>
                <a:spcPts val="0"/>
              </a:spcBef>
              <a:spcAft>
                <a:spcPts val="0"/>
              </a:spcAft>
            </a:pPr>
            <a:r>
              <a:rPr sz="2200" b="1">
                <a:solidFill>
                  <a:srgbClr val="176C54"/>
                </a:solidFill>
                <a:latin typeface="Segoe UI"/>
              </a:rPr>
              <a:t>moniq.</a:t>
            </a:r>
          </a:p>
        </p:txBody>
      </p:sp>
      <p:sp>
        <p:nvSpPr>
          <p:cNvPr id="4" name="Rectangle 3"/>
          <p:cNvSpPr/>
          <p:nvPr/>
        </p:nvSpPr>
        <p:spPr>
          <a:xfrm>
            <a:off x="548640" y="6419088"/>
            <a:ext cx="11091672" cy="10972"/>
          </a:xfrm>
          <a:prstGeom prst="rect">
            <a:avLst/>
          </a:prstGeom>
          <a:solidFill>
            <a:srgbClr val="DCE5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48640" y="6519672"/>
            <a:ext cx="5394960" cy="182880"/>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Hacklanta 2026  /  Fintech</a:t>
            </a:r>
          </a:p>
        </p:txBody>
      </p:sp>
      <p:sp>
        <p:nvSpPr>
          <p:cNvPr id="6" name="TextBox 5"/>
          <p:cNvSpPr txBox="1"/>
          <p:nvPr/>
        </p:nvSpPr>
        <p:spPr>
          <a:xfrm>
            <a:off x="11018520" y="6492240"/>
            <a:ext cx="612648" cy="237744"/>
          </a:xfrm>
          <a:prstGeom prst="rect">
            <a:avLst/>
          </a:prstGeom>
          <a:noFill/>
        </p:spPr>
        <p:txBody>
          <a:bodyPr wrap="square" lIns="0" rIns="0" tIns="0" bIns="0" anchor="t">
            <a:spAutoFit/>
          </a:bodyPr>
          <a:lstStyle/>
          <a:p>
            <a:pPr algn="r">
              <a:lnSpc>
                <a:spcPct val="112000"/>
              </a:lnSpc>
              <a:spcBef>
                <a:spcPts val="0"/>
              </a:spcBef>
              <a:spcAft>
                <a:spcPts val="0"/>
              </a:spcAft>
            </a:pPr>
            <a:r>
              <a:rPr sz="1200" b="0">
                <a:solidFill>
                  <a:srgbClr val="596B60"/>
                </a:solidFill>
                <a:latin typeface="Segoe UI"/>
              </a:rPr>
              <a:t>05</a:t>
            </a:r>
          </a:p>
        </p:txBody>
      </p:sp>
      <p:sp>
        <p:nvSpPr>
          <p:cNvPr id="7" name="TextBox 6"/>
          <p:cNvSpPr txBox="1"/>
          <p:nvPr/>
        </p:nvSpPr>
        <p:spPr>
          <a:xfrm>
            <a:off x="548640" y="868680"/>
            <a:ext cx="11018520" cy="1133856"/>
          </a:xfrm>
          <a:prstGeom prst="rect">
            <a:avLst/>
          </a:prstGeom>
          <a:noFill/>
        </p:spPr>
        <p:txBody>
          <a:bodyPr wrap="square" lIns="0" rIns="0" tIns="0" bIns="0" anchor="t">
            <a:spAutoFit/>
          </a:bodyPr>
          <a:lstStyle/>
          <a:p>
            <a:pPr>
              <a:lnSpc>
                <a:spcPct val="112000"/>
              </a:lnSpc>
              <a:spcBef>
                <a:spcPts val="0"/>
              </a:spcBef>
              <a:spcAft>
                <a:spcPts val="0"/>
              </a:spcAft>
            </a:pPr>
            <a:r>
              <a:rPr sz="3300" b="1">
                <a:solidFill>
                  <a:srgbClr val="253C31"/>
                </a:solidFill>
                <a:latin typeface="Segoe UI"/>
              </a:rPr>
              <a:t>Automation meets everyday student life.</a:t>
            </a:r>
          </a:p>
        </p:txBody>
      </p:sp>
      <p:sp>
        <p:nvSpPr>
          <p:cNvPr id="8" name="Rounded Rectangle 7"/>
          <p:cNvSpPr/>
          <p:nvPr/>
        </p:nvSpPr>
        <p:spPr>
          <a:xfrm>
            <a:off x="548640" y="1938528"/>
            <a:ext cx="5413248" cy="385876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6227064" y="1938528"/>
            <a:ext cx="5413248" cy="385876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77240" y="2148840"/>
            <a:ext cx="4956048" cy="411480"/>
          </a:xfrm>
          <a:prstGeom prst="rect">
            <a:avLst/>
          </a:prstGeom>
          <a:noFill/>
        </p:spPr>
        <p:txBody>
          <a:bodyPr wrap="square" lIns="0" rIns="0" tIns="0" bIns="0" anchor="t">
            <a:spAutoFit/>
          </a:bodyPr>
          <a:lstStyle/>
          <a:p>
            <a:pPr>
              <a:lnSpc>
                <a:spcPct val="112000"/>
              </a:lnSpc>
              <a:spcBef>
                <a:spcPts val="0"/>
              </a:spcBef>
              <a:spcAft>
                <a:spcPts val="0"/>
              </a:spcAft>
            </a:pPr>
            <a:r>
              <a:rPr sz="2500" b="1">
                <a:solidFill>
                  <a:srgbClr val="176C54"/>
                </a:solidFill>
                <a:latin typeface="Segoe UI"/>
              </a:rPr>
              <a:t>SmartApprove</a:t>
            </a:r>
          </a:p>
        </p:txBody>
      </p:sp>
      <p:sp>
        <p:nvSpPr>
          <p:cNvPr id="11" name="TextBox 10"/>
          <p:cNvSpPr txBox="1"/>
          <p:nvPr/>
        </p:nvSpPr>
        <p:spPr>
          <a:xfrm>
            <a:off x="777240" y="2752344"/>
            <a:ext cx="4956048" cy="1024128"/>
          </a:xfrm>
          <a:prstGeom prst="rect">
            <a:avLst/>
          </a:prstGeom>
          <a:noFill/>
        </p:spPr>
        <p:txBody>
          <a:bodyPr wrap="square" lIns="0" rIns="0" tIns="0" bIns="0" anchor="t">
            <a:spAutoFit/>
          </a:bodyPr>
          <a:lstStyle/>
          <a:p>
            <a:pPr>
              <a:lnSpc>
                <a:spcPct val="112000"/>
              </a:lnSpc>
              <a:spcBef>
                <a:spcPts val="0"/>
              </a:spcBef>
              <a:spcAft>
                <a:spcPts val="0"/>
              </a:spcAft>
            </a:pPr>
            <a:r>
              <a:rPr sz="1900" b="0">
                <a:solidFill>
                  <a:srgbClr val="253C31"/>
                </a:solidFill>
                <a:latin typeface="Segoe UI"/>
              </a:rPr>
              <a:t>Your sender rules. Your choice.</a:t>
            </a:r>
          </a:p>
          <a:p>
            <a:pPr>
              <a:lnSpc>
                <a:spcPct val="112000"/>
              </a:lnSpc>
              <a:spcBef>
                <a:spcPts val="0"/>
              </a:spcBef>
              <a:spcAft>
                <a:spcPts val="0"/>
              </a:spcAft>
            </a:pPr>
            <a:r>
              <a:rPr sz="1900" b="0">
                <a:solidFill>
                  <a:srgbClr val="253C31"/>
                </a:solidFill>
                <a:latin typeface="Segoe UI"/>
              </a:rPr>
              <a:t>Authentication + amount checks.</a:t>
            </a:r>
          </a:p>
          <a:p>
            <a:pPr>
              <a:lnSpc>
                <a:spcPct val="112000"/>
              </a:lnSpc>
              <a:spcBef>
                <a:spcPts val="0"/>
              </a:spcBef>
              <a:spcAft>
                <a:spcPts val="0"/>
              </a:spcAft>
            </a:pPr>
            <a:r>
              <a:rPr sz="1900" b="0">
                <a:solidFill>
                  <a:srgbClr val="253C31"/>
                </a:solidFill>
                <a:latin typeface="Segoe UI"/>
              </a:rPr>
              <a:t>Uncertain alerts stay in review.</a:t>
            </a:r>
          </a:p>
        </p:txBody>
      </p:sp>
      <p:sp>
        <p:nvSpPr>
          <p:cNvPr id="12" name="Rounded Rectangle 11"/>
          <p:cNvSpPr/>
          <p:nvPr/>
        </p:nvSpPr>
        <p:spPr>
          <a:xfrm>
            <a:off x="777240" y="3986784"/>
            <a:ext cx="4946904" cy="1225296"/>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Actual Moniq interface; isolated synthetic data. smartapprove.png"/>
          <p:cNvPicPr>
            <a:picLocks noChangeAspect="1"/>
          </p:cNvPicPr>
          <p:nvPr/>
        </p:nvPicPr>
        <p:blipFill>
          <a:blip r:embed="rId2"/>
          <a:stretch>
            <a:fillRect/>
          </a:stretch>
        </p:blipFill>
        <p:spPr>
          <a:xfrm>
            <a:off x="1410462" y="4023360"/>
            <a:ext cx="3680460" cy="1152144"/>
          </a:xfrm>
          <a:prstGeom prst="rect">
            <a:avLst/>
          </a:prstGeom>
        </p:spPr>
      </p:pic>
      <p:sp>
        <p:nvSpPr>
          <p:cNvPr id="14" name="TextBox 13"/>
          <p:cNvSpPr txBox="1"/>
          <p:nvPr/>
        </p:nvSpPr>
        <p:spPr>
          <a:xfrm>
            <a:off x="777240" y="5394960"/>
            <a:ext cx="4956048" cy="246888"/>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596B60"/>
                </a:solidFill>
                <a:latin typeface="Segoe UI"/>
              </a:rPr>
              <a:t>OPT-IN  ·  OFF BY DEFAULT</a:t>
            </a:r>
          </a:p>
        </p:txBody>
      </p:sp>
      <p:sp>
        <p:nvSpPr>
          <p:cNvPr id="15" name="TextBox 14"/>
          <p:cNvSpPr txBox="1"/>
          <p:nvPr/>
        </p:nvSpPr>
        <p:spPr>
          <a:xfrm>
            <a:off x="6455664" y="2148840"/>
            <a:ext cx="4956048" cy="411480"/>
          </a:xfrm>
          <a:prstGeom prst="rect">
            <a:avLst/>
          </a:prstGeom>
          <a:noFill/>
        </p:spPr>
        <p:txBody>
          <a:bodyPr wrap="square" lIns="0" rIns="0" tIns="0" bIns="0" anchor="t">
            <a:spAutoFit/>
          </a:bodyPr>
          <a:lstStyle/>
          <a:p>
            <a:pPr>
              <a:lnSpc>
                <a:spcPct val="112000"/>
              </a:lnSpc>
              <a:spcBef>
                <a:spcPts val="0"/>
              </a:spcBef>
              <a:spcAft>
                <a:spcPts val="0"/>
              </a:spcAft>
            </a:pPr>
            <a:r>
              <a:rPr sz="2500" b="1">
                <a:solidFill>
                  <a:srgbClr val="176C54"/>
                </a:solidFill>
                <a:latin typeface="Segoe UI"/>
              </a:rPr>
              <a:t>Moniq Circles</a:t>
            </a:r>
          </a:p>
        </p:txBody>
      </p:sp>
      <p:sp>
        <p:nvSpPr>
          <p:cNvPr id="16" name="TextBox 15"/>
          <p:cNvSpPr txBox="1"/>
          <p:nvPr/>
        </p:nvSpPr>
        <p:spPr>
          <a:xfrm>
            <a:off x="6455664" y="2752344"/>
            <a:ext cx="4956048" cy="1024128"/>
          </a:xfrm>
          <a:prstGeom prst="rect">
            <a:avLst/>
          </a:prstGeom>
          <a:noFill/>
        </p:spPr>
        <p:txBody>
          <a:bodyPr wrap="square" lIns="0" rIns="0" tIns="0" bIns="0" anchor="t">
            <a:spAutoFit/>
          </a:bodyPr>
          <a:lstStyle/>
          <a:p>
            <a:pPr>
              <a:lnSpc>
                <a:spcPct val="112000"/>
              </a:lnSpc>
              <a:spcBef>
                <a:spcPts val="0"/>
              </a:spcBef>
              <a:spcAft>
                <a:spcPts val="0"/>
              </a:spcAft>
            </a:pPr>
            <a:r>
              <a:rPr sz="1800" b="0">
                <a:solidFill>
                  <a:srgbClr val="253C31"/>
                </a:solidFill>
                <a:latin typeface="Segoe UI"/>
              </a:rPr>
              <a:t>Split expenses; keep the full charge.</a:t>
            </a:r>
          </a:p>
          <a:p>
            <a:pPr>
              <a:lnSpc>
                <a:spcPct val="112000"/>
              </a:lnSpc>
              <a:spcBef>
                <a:spcPts val="0"/>
              </a:spcBef>
              <a:spcAft>
                <a:spcPts val="0"/>
              </a:spcAft>
            </a:pPr>
            <a:r>
              <a:rPr sz="1800" b="0">
                <a:solidFill>
                  <a:srgbClr val="253C31"/>
                </a:solidFill>
                <a:latin typeface="Segoe UI"/>
              </a:rPr>
              <a:t>Track personal shares and repayments.</a:t>
            </a:r>
          </a:p>
          <a:p>
            <a:pPr>
              <a:lnSpc>
                <a:spcPct val="112000"/>
              </a:lnSpc>
              <a:spcBef>
                <a:spcPts val="0"/>
              </a:spcBef>
              <a:spcAft>
                <a:spcPts val="0"/>
              </a:spcAft>
            </a:pPr>
            <a:r>
              <a:rPr sz="1800" b="0">
                <a:solidFill>
                  <a:srgbClr val="253C31"/>
                </a:solidFill>
                <a:latin typeface="Segoe UI"/>
              </a:rPr>
              <a:t>Reimbursements are not paycheck income.</a:t>
            </a:r>
          </a:p>
        </p:txBody>
      </p:sp>
      <p:sp>
        <p:nvSpPr>
          <p:cNvPr id="17" name="Rounded Rectangle 16"/>
          <p:cNvSpPr/>
          <p:nvPr/>
        </p:nvSpPr>
        <p:spPr>
          <a:xfrm>
            <a:off x="6455664" y="3849624"/>
            <a:ext cx="4946904" cy="1463040"/>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Actual Moniq interface; isolated synthetic data. circles.png"/>
          <p:cNvPicPr>
            <a:picLocks noChangeAspect="1"/>
          </p:cNvPicPr>
          <p:nvPr/>
        </p:nvPicPr>
        <p:blipFill>
          <a:blip r:embed="rId3"/>
          <a:stretch>
            <a:fillRect/>
          </a:stretch>
        </p:blipFill>
        <p:spPr>
          <a:xfrm>
            <a:off x="6492240" y="3926997"/>
            <a:ext cx="4873752" cy="1308293"/>
          </a:xfrm>
          <a:prstGeom prst="rect">
            <a:avLst/>
          </a:prstGeom>
        </p:spPr>
      </p:pic>
      <p:sp>
        <p:nvSpPr>
          <p:cNvPr id="19" name="TextBox 18"/>
          <p:cNvSpPr txBox="1"/>
          <p:nvPr/>
        </p:nvSpPr>
        <p:spPr>
          <a:xfrm>
            <a:off x="6455664" y="5431536"/>
            <a:ext cx="4956048" cy="246888"/>
          </a:xfrm>
          <a:prstGeom prst="rect">
            <a:avLst/>
          </a:prstGeom>
          <a:noFill/>
        </p:spPr>
        <p:txBody>
          <a:bodyPr wrap="square" lIns="0" rIns="0" tIns="0" bIns="0" anchor="t">
            <a:spAutoFit/>
          </a:bodyPr>
          <a:lstStyle/>
          <a:p>
            <a:pPr>
              <a:lnSpc>
                <a:spcPct val="112000"/>
              </a:lnSpc>
              <a:spcBef>
                <a:spcPts val="0"/>
              </a:spcBef>
              <a:spcAft>
                <a:spcPts val="0"/>
              </a:spcAft>
            </a:pPr>
            <a:r>
              <a:rPr sz="1400" b="1">
                <a:solidFill>
                  <a:srgbClr val="176C54"/>
                </a:solidFill>
                <a:latin typeface="Segoe UI"/>
              </a:rPr>
              <a:t>$40 dinner = $20 your share + $20 owed</a:t>
            </a:r>
          </a:p>
        </p:txBody>
      </p:sp>
      <p:sp>
        <p:nvSpPr>
          <p:cNvPr id="20" name="TextBox 19"/>
          <p:cNvSpPr txBox="1"/>
          <p:nvPr/>
        </p:nvSpPr>
        <p:spPr>
          <a:xfrm>
            <a:off x="594360" y="6016752"/>
            <a:ext cx="10972800" cy="283464"/>
          </a:xfrm>
          <a:prstGeom prst="rect">
            <a:avLst/>
          </a:prstGeom>
          <a:noFill/>
        </p:spPr>
        <p:txBody>
          <a:bodyPr wrap="square" lIns="0" rIns="0" tIns="0" bIns="0" anchor="t">
            <a:spAutoFit/>
          </a:bodyPr>
          <a:lstStyle/>
          <a:p>
            <a:pPr>
              <a:lnSpc>
                <a:spcPct val="112000"/>
              </a:lnSpc>
              <a:spcBef>
                <a:spcPts val="0"/>
              </a:spcBef>
              <a:spcAft>
                <a:spcPts val="0"/>
              </a:spcAft>
            </a:pPr>
            <a:r>
              <a:rPr sz="1400" b="0">
                <a:solidFill>
                  <a:srgbClr val="596B60"/>
                </a:solidFill>
                <a:latin typeface="Segoe UI"/>
              </a:rPr>
              <a:t>Synthetic example. Circles records debts and repayments; Moniq sends no money.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48640" y="320040"/>
            <a:ext cx="9144000" cy="256032"/>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596B60"/>
                </a:solidFill>
                <a:latin typeface="Segoe UI"/>
              </a:rPr>
              <a:t>THE TECHNOLOGY</a:t>
            </a:r>
          </a:p>
        </p:txBody>
      </p:sp>
      <p:sp>
        <p:nvSpPr>
          <p:cNvPr id="3" name="TextBox 2"/>
          <p:cNvSpPr txBox="1"/>
          <p:nvPr/>
        </p:nvSpPr>
        <p:spPr>
          <a:xfrm>
            <a:off x="10287000" y="246888"/>
            <a:ext cx="1344168" cy="411480"/>
          </a:xfrm>
          <a:prstGeom prst="rect">
            <a:avLst/>
          </a:prstGeom>
          <a:noFill/>
        </p:spPr>
        <p:txBody>
          <a:bodyPr wrap="square" lIns="0" rIns="0" tIns="0" bIns="0" anchor="t">
            <a:spAutoFit/>
          </a:bodyPr>
          <a:lstStyle/>
          <a:p>
            <a:pPr algn="r">
              <a:lnSpc>
                <a:spcPct val="112000"/>
              </a:lnSpc>
              <a:spcBef>
                <a:spcPts val="0"/>
              </a:spcBef>
              <a:spcAft>
                <a:spcPts val="0"/>
              </a:spcAft>
            </a:pPr>
            <a:r>
              <a:rPr sz="2200" b="1">
                <a:solidFill>
                  <a:srgbClr val="176C54"/>
                </a:solidFill>
                <a:latin typeface="Segoe UI"/>
              </a:rPr>
              <a:t>moniq.</a:t>
            </a:r>
          </a:p>
        </p:txBody>
      </p:sp>
      <p:sp>
        <p:nvSpPr>
          <p:cNvPr id="4" name="Rectangle 3"/>
          <p:cNvSpPr/>
          <p:nvPr/>
        </p:nvSpPr>
        <p:spPr>
          <a:xfrm>
            <a:off x="548640" y="6419088"/>
            <a:ext cx="11091672" cy="10972"/>
          </a:xfrm>
          <a:prstGeom prst="rect">
            <a:avLst/>
          </a:prstGeom>
          <a:solidFill>
            <a:srgbClr val="DCE5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48640" y="6519672"/>
            <a:ext cx="5394960" cy="182880"/>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Hacklanta 2026  /  Fintech</a:t>
            </a:r>
          </a:p>
        </p:txBody>
      </p:sp>
      <p:sp>
        <p:nvSpPr>
          <p:cNvPr id="6" name="TextBox 5"/>
          <p:cNvSpPr txBox="1"/>
          <p:nvPr/>
        </p:nvSpPr>
        <p:spPr>
          <a:xfrm>
            <a:off x="11018520" y="6492240"/>
            <a:ext cx="612648" cy="237744"/>
          </a:xfrm>
          <a:prstGeom prst="rect">
            <a:avLst/>
          </a:prstGeom>
          <a:noFill/>
        </p:spPr>
        <p:txBody>
          <a:bodyPr wrap="square" lIns="0" rIns="0" tIns="0" bIns="0" anchor="t">
            <a:spAutoFit/>
          </a:bodyPr>
          <a:lstStyle/>
          <a:p>
            <a:pPr algn="r">
              <a:lnSpc>
                <a:spcPct val="112000"/>
              </a:lnSpc>
              <a:spcBef>
                <a:spcPts val="0"/>
              </a:spcBef>
              <a:spcAft>
                <a:spcPts val="0"/>
              </a:spcAft>
            </a:pPr>
            <a:r>
              <a:rPr sz="1200" b="0">
                <a:solidFill>
                  <a:srgbClr val="596B60"/>
                </a:solidFill>
                <a:latin typeface="Segoe UI"/>
              </a:rPr>
              <a:t>06</a:t>
            </a:r>
          </a:p>
        </p:txBody>
      </p:sp>
      <p:sp>
        <p:nvSpPr>
          <p:cNvPr id="7" name="TextBox 6"/>
          <p:cNvSpPr txBox="1"/>
          <p:nvPr/>
        </p:nvSpPr>
        <p:spPr>
          <a:xfrm>
            <a:off x="548640" y="868680"/>
            <a:ext cx="11018520" cy="1133856"/>
          </a:xfrm>
          <a:prstGeom prst="rect">
            <a:avLst/>
          </a:prstGeom>
          <a:noFill/>
        </p:spPr>
        <p:txBody>
          <a:bodyPr wrap="square" lIns="0" rIns="0" tIns="0" bIns="0" anchor="t">
            <a:spAutoFit/>
          </a:bodyPr>
          <a:lstStyle/>
          <a:p>
            <a:pPr>
              <a:lnSpc>
                <a:spcPct val="112000"/>
              </a:lnSpc>
              <a:spcBef>
                <a:spcPts val="0"/>
              </a:spcBef>
              <a:spcAft>
                <a:spcPts val="0"/>
              </a:spcAft>
            </a:pPr>
            <a:r>
              <a:rPr sz="3300" b="1">
                <a:solidFill>
                  <a:srgbClr val="253C31"/>
                </a:solidFill>
                <a:latin typeface="Segoe UI"/>
              </a:rPr>
              <a:t>Real machine learning. Real financial logic.</a:t>
            </a:r>
          </a:p>
        </p:txBody>
      </p:sp>
      <p:sp>
        <p:nvSpPr>
          <p:cNvPr id="8" name="Rounded Rectangle 7"/>
          <p:cNvSpPr/>
          <p:nvPr/>
        </p:nvSpPr>
        <p:spPr>
          <a:xfrm>
            <a:off x="566928" y="1874519"/>
            <a:ext cx="5504688" cy="47548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1933955"/>
            <a:ext cx="5120640" cy="320040"/>
          </a:xfrm>
          <a:prstGeom prst="rect">
            <a:avLst/>
          </a:prstGeom>
          <a:noFill/>
        </p:spPr>
        <p:txBody>
          <a:bodyPr wrap="square" lIns="0" rIns="0" tIns="0" bIns="0" anchor="t">
            <a:spAutoFit/>
          </a:bodyPr>
          <a:lstStyle/>
          <a:p>
            <a:pPr>
              <a:lnSpc>
                <a:spcPct val="112000"/>
              </a:lnSpc>
              <a:spcBef>
                <a:spcPts val="0"/>
              </a:spcBef>
              <a:spcAft>
                <a:spcPts val="0"/>
              </a:spcAft>
            </a:pPr>
            <a:r>
              <a:rPr sz="1800" b="1">
                <a:solidFill>
                  <a:srgbClr val="253C31"/>
                </a:solidFill>
                <a:latin typeface="Segoe UI"/>
              </a:rPr>
              <a:t>Gmail API / User imports</a:t>
            </a:r>
          </a:p>
        </p:txBody>
      </p:sp>
      <p:sp>
        <p:nvSpPr>
          <p:cNvPr id="10" name="Down Arrow 9"/>
          <p:cNvSpPr/>
          <p:nvPr/>
        </p:nvSpPr>
        <p:spPr>
          <a:xfrm>
            <a:off x="3273552" y="2386584"/>
            <a:ext cx="109728" cy="109728"/>
          </a:xfrm>
          <a:prstGeom prst="downArrow">
            <a:avLst/>
          </a:prstGeom>
          <a:solidFill>
            <a:srgbClr val="176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6928" y="2532887"/>
            <a:ext cx="5504688" cy="47548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58952" y="2592323"/>
            <a:ext cx="5120640" cy="320040"/>
          </a:xfrm>
          <a:prstGeom prst="rect">
            <a:avLst/>
          </a:prstGeom>
          <a:noFill/>
        </p:spPr>
        <p:txBody>
          <a:bodyPr wrap="square" lIns="0" rIns="0" tIns="0" bIns="0" anchor="t">
            <a:spAutoFit/>
          </a:bodyPr>
          <a:lstStyle/>
          <a:p>
            <a:pPr>
              <a:lnSpc>
                <a:spcPct val="112000"/>
              </a:lnSpc>
              <a:spcBef>
                <a:spcPts val="0"/>
              </a:spcBef>
              <a:spcAft>
                <a:spcPts val="0"/>
              </a:spcAft>
            </a:pPr>
            <a:r>
              <a:rPr sz="1800" b="1">
                <a:solidFill>
                  <a:srgbClr val="253C31"/>
                </a:solidFill>
                <a:latin typeface="Segoe UI"/>
              </a:rPr>
              <a:t>Secure FastAPI backend</a:t>
            </a:r>
          </a:p>
        </p:txBody>
      </p:sp>
      <p:sp>
        <p:nvSpPr>
          <p:cNvPr id="13" name="Down Arrow 12"/>
          <p:cNvSpPr/>
          <p:nvPr/>
        </p:nvSpPr>
        <p:spPr>
          <a:xfrm>
            <a:off x="3273552" y="3044951"/>
            <a:ext cx="109728" cy="109728"/>
          </a:xfrm>
          <a:prstGeom prst="downArrow">
            <a:avLst/>
          </a:prstGeom>
          <a:solidFill>
            <a:srgbClr val="176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6928" y="3191256"/>
            <a:ext cx="5504688" cy="47548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58952" y="3250691"/>
            <a:ext cx="5120640" cy="320040"/>
          </a:xfrm>
          <a:prstGeom prst="rect">
            <a:avLst/>
          </a:prstGeom>
          <a:noFill/>
        </p:spPr>
        <p:txBody>
          <a:bodyPr wrap="square" lIns="0" rIns="0" tIns="0" bIns="0" anchor="t">
            <a:spAutoFit/>
          </a:bodyPr>
          <a:lstStyle/>
          <a:p>
            <a:pPr>
              <a:lnSpc>
                <a:spcPct val="112000"/>
              </a:lnSpc>
              <a:spcBef>
                <a:spcPts val="0"/>
              </a:spcBef>
              <a:spcAft>
                <a:spcPts val="0"/>
              </a:spcAft>
            </a:pPr>
            <a:r>
              <a:rPr sz="1800" b="1">
                <a:solidFill>
                  <a:srgbClr val="253C31"/>
                </a:solidFill>
                <a:latin typeface="Segoe UI"/>
              </a:rPr>
              <a:t>Financial event extraction</a:t>
            </a:r>
          </a:p>
        </p:txBody>
      </p:sp>
      <p:sp>
        <p:nvSpPr>
          <p:cNvPr id="16" name="Down Arrow 15"/>
          <p:cNvSpPr/>
          <p:nvPr/>
        </p:nvSpPr>
        <p:spPr>
          <a:xfrm>
            <a:off x="3273552" y="3703320"/>
            <a:ext cx="109728" cy="109728"/>
          </a:xfrm>
          <a:prstGeom prst="downArrow">
            <a:avLst/>
          </a:prstGeom>
          <a:solidFill>
            <a:srgbClr val="176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3849624"/>
            <a:ext cx="5504688" cy="475488"/>
          </a:xfrm>
          <a:prstGeom prst="roundRect">
            <a:avLst>
              <a:gd name="adj" fmla="val 10000"/>
            </a:avLst>
          </a:prstGeom>
          <a:solidFill>
            <a:srgbClr val="176C5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58952" y="3909060"/>
            <a:ext cx="5120640" cy="320040"/>
          </a:xfrm>
          <a:prstGeom prst="rect">
            <a:avLst/>
          </a:prstGeom>
          <a:noFill/>
        </p:spPr>
        <p:txBody>
          <a:bodyPr wrap="square" lIns="0" rIns="0" tIns="0" bIns="0" anchor="t">
            <a:spAutoFit/>
          </a:bodyPr>
          <a:lstStyle/>
          <a:p>
            <a:pPr>
              <a:lnSpc>
                <a:spcPct val="112000"/>
              </a:lnSpc>
              <a:spcBef>
                <a:spcPts val="0"/>
              </a:spcBef>
              <a:spcAft>
                <a:spcPts val="0"/>
              </a:spcAft>
            </a:pPr>
            <a:r>
              <a:rPr sz="1800" b="1">
                <a:solidFill>
                  <a:srgbClr val="FFFFFF"/>
                </a:solidFill>
                <a:latin typeface="Segoe UI"/>
              </a:rPr>
              <a:t>Scikit-learn classification</a:t>
            </a:r>
          </a:p>
        </p:txBody>
      </p:sp>
      <p:sp>
        <p:nvSpPr>
          <p:cNvPr id="19" name="Down Arrow 18"/>
          <p:cNvSpPr/>
          <p:nvPr/>
        </p:nvSpPr>
        <p:spPr>
          <a:xfrm>
            <a:off x="3273552" y="4361688"/>
            <a:ext cx="109728" cy="109728"/>
          </a:xfrm>
          <a:prstGeom prst="downArrow">
            <a:avLst/>
          </a:prstGeom>
          <a:solidFill>
            <a:srgbClr val="176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66928" y="4507992"/>
            <a:ext cx="5504688" cy="47548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58952" y="4567428"/>
            <a:ext cx="5120640" cy="320040"/>
          </a:xfrm>
          <a:prstGeom prst="rect">
            <a:avLst/>
          </a:prstGeom>
          <a:noFill/>
        </p:spPr>
        <p:txBody>
          <a:bodyPr wrap="square" lIns="0" rIns="0" tIns="0" bIns="0" anchor="t">
            <a:spAutoFit/>
          </a:bodyPr>
          <a:lstStyle/>
          <a:p>
            <a:pPr>
              <a:lnSpc>
                <a:spcPct val="112000"/>
              </a:lnSpc>
              <a:spcBef>
                <a:spcPts val="0"/>
              </a:spcBef>
              <a:spcAft>
                <a:spcPts val="0"/>
              </a:spcAft>
            </a:pPr>
            <a:r>
              <a:rPr sz="1800" b="1">
                <a:solidFill>
                  <a:srgbClr val="253C31"/>
                </a:solidFill>
                <a:latin typeface="Segoe UI"/>
              </a:rPr>
              <a:t>Validation + account ledger</a:t>
            </a:r>
          </a:p>
        </p:txBody>
      </p:sp>
      <p:sp>
        <p:nvSpPr>
          <p:cNvPr id="22" name="Down Arrow 21"/>
          <p:cNvSpPr/>
          <p:nvPr/>
        </p:nvSpPr>
        <p:spPr>
          <a:xfrm>
            <a:off x="3273552" y="5020056"/>
            <a:ext cx="109728" cy="109728"/>
          </a:xfrm>
          <a:prstGeom prst="downArrow">
            <a:avLst/>
          </a:prstGeom>
          <a:solidFill>
            <a:srgbClr val="176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6928" y="5166359"/>
            <a:ext cx="5504688" cy="475488"/>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58952" y="5225796"/>
            <a:ext cx="5120640" cy="320040"/>
          </a:xfrm>
          <a:prstGeom prst="rect">
            <a:avLst/>
          </a:prstGeom>
          <a:noFill/>
        </p:spPr>
        <p:txBody>
          <a:bodyPr wrap="square" lIns="0" rIns="0" tIns="0" bIns="0" anchor="t">
            <a:spAutoFit/>
          </a:bodyPr>
          <a:lstStyle/>
          <a:p>
            <a:pPr>
              <a:lnSpc>
                <a:spcPct val="112000"/>
              </a:lnSpc>
              <a:spcBef>
                <a:spcPts val="0"/>
              </a:spcBef>
              <a:spcAft>
                <a:spcPts val="0"/>
              </a:spcAft>
            </a:pPr>
            <a:r>
              <a:rPr sz="1800" b="1">
                <a:solidFill>
                  <a:srgbClr val="253C31"/>
                </a:solidFill>
                <a:latin typeface="Segoe UI"/>
              </a:rPr>
              <a:t>React dashboard, forecasts + Circles</a:t>
            </a:r>
          </a:p>
        </p:txBody>
      </p:sp>
      <p:sp>
        <p:nvSpPr>
          <p:cNvPr id="25" name="TextBox 24"/>
          <p:cNvSpPr txBox="1"/>
          <p:nvPr/>
        </p:nvSpPr>
        <p:spPr>
          <a:xfrm>
            <a:off x="6537960" y="1901952"/>
            <a:ext cx="4937760" cy="457200"/>
          </a:xfrm>
          <a:prstGeom prst="rect">
            <a:avLst/>
          </a:prstGeom>
          <a:noFill/>
        </p:spPr>
        <p:txBody>
          <a:bodyPr wrap="square" lIns="0" rIns="0" tIns="0" bIns="0" anchor="t">
            <a:spAutoFit/>
          </a:bodyPr>
          <a:lstStyle/>
          <a:p>
            <a:pPr>
              <a:lnSpc>
                <a:spcPct val="112000"/>
              </a:lnSpc>
              <a:spcBef>
                <a:spcPts val="0"/>
              </a:spcBef>
              <a:spcAft>
                <a:spcPts val="0"/>
              </a:spcAft>
            </a:pPr>
            <a:r>
              <a:rPr sz="2300" b="1">
                <a:solidFill>
                  <a:srgbClr val="176C54"/>
                </a:solidFill>
                <a:latin typeface="Segoe UI"/>
              </a:rPr>
              <a:t>ML suggests categories.</a:t>
            </a:r>
          </a:p>
        </p:txBody>
      </p:sp>
      <p:sp>
        <p:nvSpPr>
          <p:cNvPr id="26" name="TextBox 25"/>
          <p:cNvSpPr txBox="1"/>
          <p:nvPr/>
        </p:nvSpPr>
        <p:spPr>
          <a:xfrm>
            <a:off x="6537960" y="2523744"/>
            <a:ext cx="4937760" cy="868680"/>
          </a:xfrm>
          <a:prstGeom prst="rect">
            <a:avLst/>
          </a:prstGeom>
          <a:noFill/>
        </p:spPr>
        <p:txBody>
          <a:bodyPr wrap="square" lIns="0" rIns="0" tIns="0" bIns="0" anchor="t">
            <a:spAutoFit/>
          </a:bodyPr>
          <a:lstStyle/>
          <a:p>
            <a:pPr>
              <a:lnSpc>
                <a:spcPct val="112000"/>
              </a:lnSpc>
              <a:spcBef>
                <a:spcPts val="0"/>
              </a:spcBef>
              <a:spcAft>
                <a:spcPts val="0"/>
              </a:spcAft>
            </a:pPr>
            <a:r>
              <a:rPr sz="2100" b="0">
                <a:solidFill>
                  <a:srgbClr val="253C31"/>
                </a:solidFill>
                <a:latin typeface="Segoe UI"/>
              </a:rPr>
              <a:t>TF-IDF + logistic regression</a:t>
            </a:r>
          </a:p>
          <a:p>
            <a:pPr>
              <a:lnSpc>
                <a:spcPct val="112000"/>
              </a:lnSpc>
              <a:spcBef>
                <a:spcPts val="0"/>
              </a:spcBef>
              <a:spcAft>
                <a:spcPts val="0"/>
              </a:spcAft>
            </a:pPr>
            <a:r>
              <a:rPr sz="2100" b="0">
                <a:solidFill>
                  <a:srgbClr val="253C31"/>
                </a:solidFill>
                <a:latin typeface="Segoe UI"/>
              </a:rPr>
              <a:t>94.70% raw synthetic accuracy</a:t>
            </a:r>
          </a:p>
        </p:txBody>
      </p:sp>
      <p:sp>
        <p:nvSpPr>
          <p:cNvPr id="27" name="TextBox 26"/>
          <p:cNvSpPr txBox="1"/>
          <p:nvPr/>
        </p:nvSpPr>
        <p:spPr>
          <a:xfrm>
            <a:off x="6537960" y="3465576"/>
            <a:ext cx="4937760" cy="685800"/>
          </a:xfrm>
          <a:prstGeom prst="rect">
            <a:avLst/>
          </a:prstGeom>
          <a:noFill/>
        </p:spPr>
        <p:txBody>
          <a:bodyPr wrap="square" lIns="0" rIns="0" tIns="0" bIns="0" anchor="t">
            <a:spAutoFit/>
          </a:bodyPr>
          <a:lstStyle/>
          <a:p>
            <a:pPr>
              <a:lnSpc>
                <a:spcPct val="112000"/>
              </a:lnSpc>
              <a:spcBef>
                <a:spcPts val="0"/>
              </a:spcBef>
              <a:spcAft>
                <a:spcPts val="0"/>
              </a:spcAft>
            </a:pPr>
            <a:r>
              <a:rPr sz="1600" b="0">
                <a:solidFill>
                  <a:srgbClr val="596B60"/>
                </a:solidFill>
                <a:latin typeface="Segoe UI"/>
              </a:rPr>
              <a:t>250 / 264 held-out examples.</a:t>
            </a:r>
          </a:p>
          <a:p>
            <a:pPr>
              <a:lnSpc>
                <a:spcPct val="112000"/>
              </a:lnSpc>
              <a:spcBef>
                <a:spcPts val="0"/>
              </a:spcBef>
              <a:spcAft>
                <a:spcPts val="0"/>
              </a:spcAft>
            </a:pPr>
            <a:r>
              <a:rPr sz="1600" b="0">
                <a:solidFill>
                  <a:srgbClr val="596B60"/>
                </a:solidFill>
                <a:latin typeface="Segoe UI"/>
              </a:rPr>
              <a:t>Real-bank accuracy is unmeasured.</a:t>
            </a:r>
          </a:p>
        </p:txBody>
      </p:sp>
      <p:sp>
        <p:nvSpPr>
          <p:cNvPr id="28" name="TextBox 27"/>
          <p:cNvSpPr txBox="1"/>
          <p:nvPr/>
        </p:nvSpPr>
        <p:spPr>
          <a:xfrm>
            <a:off x="6537960" y="4416552"/>
            <a:ext cx="4937760" cy="457200"/>
          </a:xfrm>
          <a:prstGeom prst="rect">
            <a:avLst/>
          </a:prstGeom>
          <a:noFill/>
        </p:spPr>
        <p:txBody>
          <a:bodyPr wrap="square" lIns="0" rIns="0" tIns="0" bIns="0" anchor="t">
            <a:spAutoFit/>
          </a:bodyPr>
          <a:lstStyle/>
          <a:p>
            <a:pPr>
              <a:lnSpc>
                <a:spcPct val="112000"/>
              </a:lnSpc>
              <a:spcBef>
                <a:spcPts val="0"/>
              </a:spcBef>
              <a:spcAft>
                <a:spcPts val="0"/>
              </a:spcAft>
            </a:pPr>
            <a:r>
              <a:rPr sz="2300" b="1">
                <a:solidFill>
                  <a:srgbClr val="176C54"/>
                </a:solidFill>
                <a:latin typeface="Segoe UI"/>
              </a:rPr>
              <a:t>Code calculates the money.</a:t>
            </a:r>
          </a:p>
        </p:txBody>
      </p:sp>
      <p:sp>
        <p:nvSpPr>
          <p:cNvPr id="29" name="TextBox 28"/>
          <p:cNvSpPr txBox="1"/>
          <p:nvPr/>
        </p:nvSpPr>
        <p:spPr>
          <a:xfrm>
            <a:off x="6537960" y="4965192"/>
            <a:ext cx="4937760" cy="411480"/>
          </a:xfrm>
          <a:prstGeom prst="rect">
            <a:avLst/>
          </a:prstGeom>
          <a:noFill/>
        </p:spPr>
        <p:txBody>
          <a:bodyPr wrap="square" lIns="0" rIns="0" tIns="0" bIns="0" anchor="t">
            <a:spAutoFit/>
          </a:bodyPr>
          <a:lstStyle/>
          <a:p>
            <a:pPr>
              <a:lnSpc>
                <a:spcPct val="112000"/>
              </a:lnSpc>
              <a:spcBef>
                <a:spcPts val="0"/>
              </a:spcBef>
              <a:spcAft>
                <a:spcPts val="0"/>
              </a:spcAft>
            </a:pPr>
            <a:r>
              <a:rPr sz="1800" b="0">
                <a:solidFill>
                  <a:srgbClr val="253C31"/>
                </a:solidFill>
                <a:latin typeface="Segoe UI"/>
              </a:rPr>
              <a:t>Integer cents · Deterministic forecasts</a:t>
            </a:r>
          </a:p>
        </p:txBody>
      </p:sp>
      <p:sp>
        <p:nvSpPr>
          <p:cNvPr id="30" name="TextBox 29"/>
          <p:cNvSpPr txBox="1"/>
          <p:nvPr/>
        </p:nvSpPr>
        <p:spPr>
          <a:xfrm>
            <a:off x="6537960" y="5605272"/>
            <a:ext cx="4937760" cy="621792"/>
          </a:xfrm>
          <a:prstGeom prst="rect">
            <a:avLst/>
          </a:prstGeom>
          <a:noFill/>
        </p:spPr>
        <p:txBody>
          <a:bodyPr wrap="square" lIns="0" rIns="0" tIns="0" bIns="0" anchor="t">
            <a:spAutoFit/>
          </a:bodyPr>
          <a:lstStyle/>
          <a:p>
            <a:pPr>
              <a:lnSpc>
                <a:spcPct val="112000"/>
              </a:lnSpc>
              <a:spcBef>
                <a:spcPts val="0"/>
              </a:spcBef>
              <a:spcAft>
                <a:spcPts val="0"/>
              </a:spcAft>
            </a:pPr>
            <a:r>
              <a:rPr sz="1400" b="0">
                <a:solidFill>
                  <a:srgbClr val="596B60"/>
                </a:solidFill>
                <a:latin typeface="Segoe UI"/>
              </a:rPr>
              <a:t>React / TypeScript · Python / FastAPI · SQLite</a:t>
            </a:r>
          </a:p>
          <a:p>
            <a:pPr>
              <a:lnSpc>
                <a:spcPct val="112000"/>
              </a:lnSpc>
              <a:spcBef>
                <a:spcPts val="0"/>
              </a:spcBef>
              <a:spcAft>
                <a:spcPts val="0"/>
              </a:spcAft>
            </a:pPr>
            <a:r>
              <a:rPr sz="1400" b="0">
                <a:solidFill>
                  <a:srgbClr val="596B60"/>
                </a:solidFill>
                <a:latin typeface="Segoe UI"/>
              </a:rPr>
              <a:t>Google OAuth + Gmail API · pytest / Playwright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3"/>
        </a:solidFill>
        <a:effectLst/>
      </p:bgPr>
    </p:bg>
    <p:spTree>
      <p:nvGrpSpPr>
        <p:cNvPr id="1" name=""/>
        <p:cNvGrpSpPr/>
        <p:nvPr/>
      </p:nvGrpSpPr>
      <p:grpSpPr/>
      <p:sp>
        <p:nvSpPr>
          <p:cNvPr id="2" name="TextBox 1"/>
          <p:cNvSpPr txBox="1"/>
          <p:nvPr/>
        </p:nvSpPr>
        <p:spPr>
          <a:xfrm>
            <a:off x="548640" y="320040"/>
            <a:ext cx="9144000" cy="256032"/>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596B60"/>
                </a:solidFill>
                <a:latin typeface="Segoe UI"/>
              </a:rPr>
              <a:t>WORKING PROTOTYPE + VALIDATION</a:t>
            </a:r>
          </a:p>
        </p:txBody>
      </p:sp>
      <p:sp>
        <p:nvSpPr>
          <p:cNvPr id="3" name="TextBox 2"/>
          <p:cNvSpPr txBox="1"/>
          <p:nvPr/>
        </p:nvSpPr>
        <p:spPr>
          <a:xfrm>
            <a:off x="10287000" y="246888"/>
            <a:ext cx="1344168" cy="411480"/>
          </a:xfrm>
          <a:prstGeom prst="rect">
            <a:avLst/>
          </a:prstGeom>
          <a:noFill/>
        </p:spPr>
        <p:txBody>
          <a:bodyPr wrap="square" lIns="0" rIns="0" tIns="0" bIns="0" anchor="t">
            <a:spAutoFit/>
          </a:bodyPr>
          <a:lstStyle/>
          <a:p>
            <a:pPr algn="r">
              <a:lnSpc>
                <a:spcPct val="112000"/>
              </a:lnSpc>
              <a:spcBef>
                <a:spcPts val="0"/>
              </a:spcBef>
              <a:spcAft>
                <a:spcPts val="0"/>
              </a:spcAft>
            </a:pPr>
            <a:r>
              <a:rPr sz="2200" b="1">
                <a:solidFill>
                  <a:srgbClr val="176C54"/>
                </a:solidFill>
                <a:latin typeface="Segoe UI"/>
              </a:rPr>
              <a:t>moniq.</a:t>
            </a:r>
          </a:p>
        </p:txBody>
      </p:sp>
      <p:sp>
        <p:nvSpPr>
          <p:cNvPr id="4" name="Rectangle 3"/>
          <p:cNvSpPr/>
          <p:nvPr/>
        </p:nvSpPr>
        <p:spPr>
          <a:xfrm>
            <a:off x="548640" y="6419088"/>
            <a:ext cx="11091672" cy="10972"/>
          </a:xfrm>
          <a:prstGeom prst="rect">
            <a:avLst/>
          </a:prstGeom>
          <a:solidFill>
            <a:srgbClr val="DCE5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48640" y="6519672"/>
            <a:ext cx="5394960" cy="182880"/>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Hacklanta 2026  /  Fintech</a:t>
            </a:r>
          </a:p>
        </p:txBody>
      </p:sp>
      <p:sp>
        <p:nvSpPr>
          <p:cNvPr id="6" name="TextBox 5"/>
          <p:cNvSpPr txBox="1"/>
          <p:nvPr/>
        </p:nvSpPr>
        <p:spPr>
          <a:xfrm>
            <a:off x="11018520" y="6492240"/>
            <a:ext cx="612648" cy="237744"/>
          </a:xfrm>
          <a:prstGeom prst="rect">
            <a:avLst/>
          </a:prstGeom>
          <a:noFill/>
        </p:spPr>
        <p:txBody>
          <a:bodyPr wrap="square" lIns="0" rIns="0" tIns="0" bIns="0" anchor="t">
            <a:spAutoFit/>
          </a:bodyPr>
          <a:lstStyle/>
          <a:p>
            <a:pPr algn="r">
              <a:lnSpc>
                <a:spcPct val="112000"/>
              </a:lnSpc>
              <a:spcBef>
                <a:spcPts val="0"/>
              </a:spcBef>
              <a:spcAft>
                <a:spcPts val="0"/>
              </a:spcAft>
            </a:pPr>
            <a:r>
              <a:rPr sz="1200" b="0">
                <a:solidFill>
                  <a:srgbClr val="596B60"/>
                </a:solidFill>
                <a:latin typeface="Segoe UI"/>
              </a:rPr>
              <a:t>07</a:t>
            </a:r>
          </a:p>
        </p:txBody>
      </p:sp>
      <p:sp>
        <p:nvSpPr>
          <p:cNvPr id="7" name="TextBox 6"/>
          <p:cNvSpPr txBox="1"/>
          <p:nvPr/>
        </p:nvSpPr>
        <p:spPr>
          <a:xfrm>
            <a:off x="548640" y="868680"/>
            <a:ext cx="11018520" cy="1133856"/>
          </a:xfrm>
          <a:prstGeom prst="rect">
            <a:avLst/>
          </a:prstGeom>
          <a:noFill/>
        </p:spPr>
        <p:txBody>
          <a:bodyPr wrap="square" lIns="0" rIns="0" tIns="0" bIns="0" anchor="t">
            <a:spAutoFit/>
          </a:bodyPr>
          <a:lstStyle/>
          <a:p>
            <a:pPr>
              <a:lnSpc>
                <a:spcPct val="112000"/>
              </a:lnSpc>
              <a:spcBef>
                <a:spcPts val="0"/>
              </a:spcBef>
              <a:spcAft>
                <a:spcPts val="0"/>
              </a:spcAft>
            </a:pPr>
            <a:r>
              <a:rPr sz="3300" b="1">
                <a:solidFill>
                  <a:srgbClr val="253C31"/>
                </a:solidFill>
                <a:latin typeface="Segoe UI"/>
              </a:rPr>
              <a:t>Built, tested, and demonstrated.</a:t>
            </a:r>
          </a:p>
        </p:txBody>
      </p:sp>
      <p:sp>
        <p:nvSpPr>
          <p:cNvPr id="8" name="Rounded Rectangle 7"/>
          <p:cNvSpPr/>
          <p:nvPr/>
        </p:nvSpPr>
        <p:spPr>
          <a:xfrm>
            <a:off x="548640" y="1901952"/>
            <a:ext cx="3465576" cy="1508760"/>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68096" y="2011680"/>
            <a:ext cx="3017520" cy="640080"/>
          </a:xfrm>
          <a:prstGeom prst="rect">
            <a:avLst/>
          </a:prstGeom>
          <a:noFill/>
        </p:spPr>
        <p:txBody>
          <a:bodyPr wrap="square" lIns="0" rIns="0" tIns="0" bIns="0" anchor="t">
            <a:spAutoFit/>
          </a:bodyPr>
          <a:lstStyle/>
          <a:p>
            <a:pPr>
              <a:lnSpc>
                <a:spcPct val="112000"/>
              </a:lnSpc>
              <a:spcBef>
                <a:spcPts val="0"/>
              </a:spcBef>
              <a:spcAft>
                <a:spcPts val="0"/>
              </a:spcAft>
            </a:pPr>
            <a:r>
              <a:rPr sz="4100" b="1">
                <a:solidFill>
                  <a:srgbClr val="176C54"/>
                </a:solidFill>
                <a:latin typeface="Segoe UI"/>
              </a:rPr>
              <a:t>109</a:t>
            </a:r>
          </a:p>
        </p:txBody>
      </p:sp>
      <p:sp>
        <p:nvSpPr>
          <p:cNvPr id="10" name="TextBox 9"/>
          <p:cNvSpPr txBox="1"/>
          <p:nvPr/>
        </p:nvSpPr>
        <p:spPr>
          <a:xfrm>
            <a:off x="768096" y="2743200"/>
            <a:ext cx="3017520" cy="283464"/>
          </a:xfrm>
          <a:prstGeom prst="rect">
            <a:avLst/>
          </a:prstGeom>
          <a:noFill/>
        </p:spPr>
        <p:txBody>
          <a:bodyPr wrap="square" lIns="0" rIns="0" tIns="0" bIns="0" anchor="t">
            <a:spAutoFit/>
          </a:bodyPr>
          <a:lstStyle/>
          <a:p>
            <a:pPr>
              <a:lnSpc>
                <a:spcPct val="112000"/>
              </a:lnSpc>
              <a:spcBef>
                <a:spcPts val="0"/>
              </a:spcBef>
              <a:spcAft>
                <a:spcPts val="0"/>
              </a:spcAft>
            </a:pPr>
            <a:r>
              <a:rPr sz="1600" b="1">
                <a:solidFill>
                  <a:srgbClr val="253C31"/>
                </a:solidFill>
                <a:latin typeface="Segoe UI"/>
              </a:rPr>
              <a:t>Backend tests passed</a:t>
            </a:r>
          </a:p>
        </p:txBody>
      </p:sp>
      <p:sp>
        <p:nvSpPr>
          <p:cNvPr id="11" name="TextBox 10"/>
          <p:cNvSpPr txBox="1"/>
          <p:nvPr/>
        </p:nvSpPr>
        <p:spPr>
          <a:xfrm>
            <a:off x="768096" y="3099816"/>
            <a:ext cx="3017520" cy="219456"/>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pytest</a:t>
            </a:r>
          </a:p>
        </p:txBody>
      </p:sp>
      <p:sp>
        <p:nvSpPr>
          <p:cNvPr id="12" name="Rounded Rectangle 11"/>
          <p:cNvSpPr/>
          <p:nvPr/>
        </p:nvSpPr>
        <p:spPr>
          <a:xfrm>
            <a:off x="4361688" y="1901952"/>
            <a:ext cx="3465576" cy="1508760"/>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581144" y="2011680"/>
            <a:ext cx="3017520" cy="640080"/>
          </a:xfrm>
          <a:prstGeom prst="rect">
            <a:avLst/>
          </a:prstGeom>
          <a:noFill/>
        </p:spPr>
        <p:txBody>
          <a:bodyPr wrap="square" lIns="0" rIns="0" tIns="0" bIns="0" anchor="t">
            <a:spAutoFit/>
          </a:bodyPr>
          <a:lstStyle/>
          <a:p>
            <a:pPr>
              <a:lnSpc>
                <a:spcPct val="112000"/>
              </a:lnSpc>
              <a:spcBef>
                <a:spcPts val="0"/>
              </a:spcBef>
              <a:spcAft>
                <a:spcPts val="0"/>
              </a:spcAft>
            </a:pPr>
            <a:r>
              <a:rPr sz="4100" b="1">
                <a:solidFill>
                  <a:srgbClr val="176C54"/>
                </a:solidFill>
                <a:latin typeface="Segoe UI"/>
              </a:rPr>
              <a:t>19</a:t>
            </a:r>
          </a:p>
        </p:txBody>
      </p:sp>
      <p:sp>
        <p:nvSpPr>
          <p:cNvPr id="14" name="TextBox 13"/>
          <p:cNvSpPr txBox="1"/>
          <p:nvPr/>
        </p:nvSpPr>
        <p:spPr>
          <a:xfrm>
            <a:off x="4581144" y="2743200"/>
            <a:ext cx="3017520" cy="283464"/>
          </a:xfrm>
          <a:prstGeom prst="rect">
            <a:avLst/>
          </a:prstGeom>
          <a:noFill/>
        </p:spPr>
        <p:txBody>
          <a:bodyPr wrap="square" lIns="0" rIns="0" tIns="0" bIns="0" anchor="t">
            <a:spAutoFit/>
          </a:bodyPr>
          <a:lstStyle/>
          <a:p>
            <a:pPr>
              <a:lnSpc>
                <a:spcPct val="112000"/>
              </a:lnSpc>
              <a:spcBef>
                <a:spcPts val="0"/>
              </a:spcBef>
              <a:spcAft>
                <a:spcPts val="0"/>
              </a:spcAft>
            </a:pPr>
            <a:r>
              <a:rPr sz="1600" b="1">
                <a:solidFill>
                  <a:srgbClr val="253C31"/>
                </a:solidFill>
                <a:latin typeface="Segoe UI"/>
              </a:rPr>
              <a:t>Browser tests passed</a:t>
            </a:r>
          </a:p>
        </p:txBody>
      </p:sp>
      <p:sp>
        <p:nvSpPr>
          <p:cNvPr id="15" name="TextBox 14"/>
          <p:cNvSpPr txBox="1"/>
          <p:nvPr/>
        </p:nvSpPr>
        <p:spPr>
          <a:xfrm>
            <a:off x="4581144" y="3099816"/>
            <a:ext cx="3017520" cy="219456"/>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16 local + 3 production · Chromium</a:t>
            </a:r>
          </a:p>
        </p:txBody>
      </p:sp>
      <p:sp>
        <p:nvSpPr>
          <p:cNvPr id="16" name="Rounded Rectangle 15"/>
          <p:cNvSpPr/>
          <p:nvPr/>
        </p:nvSpPr>
        <p:spPr>
          <a:xfrm>
            <a:off x="8174736" y="1901952"/>
            <a:ext cx="3465576" cy="1508760"/>
          </a:xfrm>
          <a:prstGeom prst="roundRect">
            <a:avLst>
              <a:gd name="adj" fmla="val 10000"/>
            </a:avLst>
          </a:prstGeom>
          <a:solidFill>
            <a:srgbClr val="FFFFFF"/>
          </a:solidFill>
          <a:ln w="10160">
            <a:solidFill>
              <a:srgbClr val="DCE5D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94192" y="2011680"/>
            <a:ext cx="3017520" cy="640080"/>
          </a:xfrm>
          <a:prstGeom prst="rect">
            <a:avLst/>
          </a:prstGeom>
          <a:noFill/>
        </p:spPr>
        <p:txBody>
          <a:bodyPr wrap="square" lIns="0" rIns="0" tIns="0" bIns="0" anchor="t">
            <a:spAutoFit/>
          </a:bodyPr>
          <a:lstStyle/>
          <a:p>
            <a:pPr>
              <a:lnSpc>
                <a:spcPct val="112000"/>
              </a:lnSpc>
              <a:spcBef>
                <a:spcPts val="0"/>
              </a:spcBef>
              <a:spcAft>
                <a:spcPts val="0"/>
              </a:spcAft>
            </a:pPr>
            <a:r>
              <a:rPr sz="4100" b="1">
                <a:solidFill>
                  <a:srgbClr val="176C54"/>
                </a:solidFill>
                <a:latin typeface="Segoe UI"/>
              </a:rPr>
              <a:t>94.70%</a:t>
            </a:r>
          </a:p>
        </p:txBody>
      </p:sp>
      <p:sp>
        <p:nvSpPr>
          <p:cNvPr id="18" name="TextBox 17"/>
          <p:cNvSpPr txBox="1"/>
          <p:nvPr/>
        </p:nvSpPr>
        <p:spPr>
          <a:xfrm>
            <a:off x="8394192" y="2743200"/>
            <a:ext cx="3017520" cy="283464"/>
          </a:xfrm>
          <a:prstGeom prst="rect">
            <a:avLst/>
          </a:prstGeom>
          <a:noFill/>
        </p:spPr>
        <p:txBody>
          <a:bodyPr wrap="square" lIns="0" rIns="0" tIns="0" bIns="0" anchor="t">
            <a:spAutoFit/>
          </a:bodyPr>
          <a:lstStyle/>
          <a:p>
            <a:pPr>
              <a:lnSpc>
                <a:spcPct val="112000"/>
              </a:lnSpc>
              <a:spcBef>
                <a:spcPts val="0"/>
              </a:spcBef>
              <a:spcAft>
                <a:spcPts val="0"/>
              </a:spcAft>
            </a:pPr>
            <a:r>
              <a:rPr sz="1600" b="1">
                <a:solidFill>
                  <a:srgbClr val="253C31"/>
                </a:solidFill>
                <a:latin typeface="Segoe UI"/>
              </a:rPr>
              <a:t>Raw synthetic ML accuracy</a:t>
            </a:r>
          </a:p>
        </p:txBody>
      </p:sp>
      <p:sp>
        <p:nvSpPr>
          <p:cNvPr id="19" name="TextBox 18"/>
          <p:cNvSpPr txBox="1"/>
          <p:nvPr/>
        </p:nvSpPr>
        <p:spPr>
          <a:xfrm>
            <a:off x="8394192" y="3099816"/>
            <a:ext cx="3017520" cy="219456"/>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596B60"/>
                </a:solidFill>
                <a:latin typeface="Segoe UI"/>
              </a:rPr>
              <a:t>250 / 264 · Held-out merchant families</a:t>
            </a:r>
          </a:p>
        </p:txBody>
      </p:sp>
      <p:sp>
        <p:nvSpPr>
          <p:cNvPr id="20" name="TextBox 19"/>
          <p:cNvSpPr txBox="1"/>
          <p:nvPr/>
        </p:nvSpPr>
        <p:spPr>
          <a:xfrm>
            <a:off x="594360" y="3730752"/>
            <a:ext cx="5212080" cy="457200"/>
          </a:xfrm>
          <a:prstGeom prst="rect">
            <a:avLst/>
          </a:prstGeom>
          <a:noFill/>
        </p:spPr>
        <p:txBody>
          <a:bodyPr wrap="square" lIns="0" rIns="0" tIns="0" bIns="0" anchor="t">
            <a:spAutoFit/>
          </a:bodyPr>
          <a:lstStyle/>
          <a:p>
            <a:pPr>
              <a:lnSpc>
                <a:spcPct val="112000"/>
              </a:lnSpc>
              <a:spcBef>
                <a:spcPts val="0"/>
              </a:spcBef>
              <a:spcAft>
                <a:spcPts val="0"/>
              </a:spcAft>
            </a:pPr>
            <a:r>
              <a:rPr sz="2400" b="1">
                <a:solidFill>
                  <a:srgbClr val="176C54"/>
                </a:solidFill>
                <a:latin typeface="Segoe UI"/>
              </a:rPr>
              <a:t>Verified prototype</a:t>
            </a:r>
          </a:p>
        </p:txBody>
      </p:sp>
      <p:sp>
        <p:nvSpPr>
          <p:cNvPr id="21" name="TextBox 20"/>
          <p:cNvSpPr txBox="1"/>
          <p:nvPr/>
        </p:nvSpPr>
        <p:spPr>
          <a:xfrm>
            <a:off x="594360" y="4407408"/>
            <a:ext cx="5212080" cy="1417320"/>
          </a:xfrm>
          <a:prstGeom prst="rect">
            <a:avLst/>
          </a:prstGeom>
          <a:noFill/>
        </p:spPr>
        <p:txBody>
          <a:bodyPr wrap="square" lIns="0" rIns="0" tIns="0" bIns="0" anchor="t">
            <a:spAutoFit/>
          </a:bodyPr>
          <a:lstStyle/>
          <a:p>
            <a:pPr>
              <a:lnSpc>
                <a:spcPct val="112000"/>
              </a:lnSpc>
              <a:spcBef>
                <a:spcPts val="0"/>
              </a:spcBef>
              <a:spcAft>
                <a:spcPts val="0"/>
              </a:spcAft>
            </a:pPr>
            <a:r>
              <a:rPr sz="1800" b="0">
                <a:solidFill>
                  <a:srgbClr val="253C31"/>
                </a:solidFill>
                <a:latin typeface="Segoe UI"/>
              </a:rPr>
              <a:t>Responsive dashboard and budgets</a:t>
            </a:r>
          </a:p>
          <a:p>
            <a:pPr>
              <a:lnSpc>
                <a:spcPct val="112000"/>
              </a:lnSpc>
              <a:spcBef>
                <a:spcPts val="0"/>
              </a:spcBef>
              <a:spcAft>
                <a:spcPts val="0"/>
              </a:spcAft>
            </a:pPr>
            <a:r>
              <a:rPr sz="1800" b="0">
                <a:solidFill>
                  <a:srgbClr val="253C31"/>
                </a:solidFill>
                <a:latin typeface="Segoe UI"/>
              </a:rPr>
              <a:t>Goals, forecasts, subscriptions, assistant</a:t>
            </a:r>
          </a:p>
          <a:p>
            <a:pPr>
              <a:lnSpc>
                <a:spcPct val="112000"/>
              </a:lnSpc>
              <a:spcBef>
                <a:spcPts val="0"/>
              </a:spcBef>
              <a:spcAft>
                <a:spcPts val="0"/>
              </a:spcAft>
            </a:pPr>
            <a:r>
              <a:rPr sz="1800" b="0">
                <a:solidFill>
                  <a:srgbClr val="253C31"/>
                </a:solidFill>
                <a:latin typeface="Segoe UI"/>
              </a:rPr>
              <a:t>Synthetic email → confirmation → ledger</a:t>
            </a:r>
          </a:p>
          <a:p>
            <a:pPr>
              <a:lnSpc>
                <a:spcPct val="112000"/>
              </a:lnSpc>
              <a:spcBef>
                <a:spcPts val="0"/>
              </a:spcBef>
              <a:spcAft>
                <a:spcPts val="0"/>
              </a:spcAft>
            </a:pPr>
            <a:r>
              <a:rPr sz="1800" b="0">
                <a:solidFill>
                  <a:srgbClr val="253C31"/>
                </a:solidFill>
                <a:latin typeface="Segoe UI"/>
              </a:rPr>
              <a:t>Sharing, repayment and session isolation</a:t>
            </a:r>
          </a:p>
        </p:txBody>
      </p:sp>
      <p:sp>
        <p:nvSpPr>
          <p:cNvPr id="22" name="TextBox 21"/>
          <p:cNvSpPr txBox="1"/>
          <p:nvPr/>
        </p:nvSpPr>
        <p:spPr>
          <a:xfrm>
            <a:off x="6455664" y="3730752"/>
            <a:ext cx="5029200" cy="457200"/>
          </a:xfrm>
          <a:prstGeom prst="rect">
            <a:avLst/>
          </a:prstGeom>
          <a:noFill/>
        </p:spPr>
        <p:txBody>
          <a:bodyPr wrap="square" lIns="0" rIns="0" tIns="0" bIns="0" anchor="t">
            <a:spAutoFit/>
          </a:bodyPr>
          <a:lstStyle/>
          <a:p>
            <a:pPr>
              <a:lnSpc>
                <a:spcPct val="112000"/>
              </a:lnSpc>
              <a:spcBef>
                <a:spcPts val="0"/>
              </a:spcBef>
              <a:spcAft>
                <a:spcPts val="0"/>
              </a:spcAft>
            </a:pPr>
            <a:r>
              <a:rPr sz="2400" b="1">
                <a:solidFill>
                  <a:srgbClr val="176C54"/>
                </a:solidFill>
                <a:latin typeface="Segoe UI"/>
              </a:rPr>
              <a:t>Clear boundaries</a:t>
            </a:r>
          </a:p>
        </p:txBody>
      </p:sp>
      <p:sp>
        <p:nvSpPr>
          <p:cNvPr id="23" name="TextBox 22"/>
          <p:cNvSpPr txBox="1"/>
          <p:nvPr/>
        </p:nvSpPr>
        <p:spPr>
          <a:xfrm>
            <a:off x="6455664" y="4407408"/>
            <a:ext cx="5029200" cy="1417320"/>
          </a:xfrm>
          <a:prstGeom prst="rect">
            <a:avLst/>
          </a:prstGeom>
          <a:noFill/>
        </p:spPr>
        <p:txBody>
          <a:bodyPr wrap="square" lIns="0" rIns="0" tIns="0" bIns="0" anchor="t">
            <a:spAutoFit/>
          </a:bodyPr>
          <a:lstStyle/>
          <a:p>
            <a:pPr>
              <a:lnSpc>
                <a:spcPct val="112000"/>
              </a:lnSpc>
              <a:spcBef>
                <a:spcPts val="0"/>
              </a:spcBef>
              <a:spcAft>
                <a:spcPts val="0"/>
              </a:spcAft>
            </a:pPr>
            <a:r>
              <a:rPr sz="1800" b="0">
                <a:solidFill>
                  <a:srgbClr val="253C31"/>
                </a:solidFill>
                <a:latin typeface="Segoe UI"/>
              </a:rPr>
              <a:t>Estimates; no bank verification</a:t>
            </a:r>
          </a:p>
          <a:p>
            <a:pPr>
              <a:lnSpc>
                <a:spcPct val="112000"/>
              </a:lnSpc>
              <a:spcBef>
                <a:spcPts val="0"/>
              </a:spcBef>
              <a:spcAft>
                <a:spcPts val="0"/>
              </a:spcAft>
            </a:pPr>
            <a:r>
              <a:rPr sz="1800" b="0">
                <a:solidFill>
                  <a:srgbClr val="253C31"/>
                </a:solidFill>
                <a:latin typeface="Segoe UI"/>
              </a:rPr>
              <a:t>Gmail requires permission</a:t>
            </a:r>
          </a:p>
          <a:p>
            <a:pPr>
              <a:lnSpc>
                <a:spcPct val="112000"/>
              </a:lnSpc>
              <a:spcBef>
                <a:spcPts val="0"/>
              </a:spcBef>
              <a:spcAft>
                <a:spcPts val="0"/>
              </a:spcAft>
            </a:pPr>
            <a:r>
              <a:rPr sz="1800" b="0">
                <a:solidFill>
                  <a:srgbClr val="253C31"/>
                </a:solidFill>
                <a:latin typeface="Segoe UI"/>
              </a:rPr>
              <a:t>Real-email coverage needs broader testing</a:t>
            </a:r>
          </a:p>
          <a:p>
            <a:pPr>
              <a:lnSpc>
                <a:spcPct val="112000"/>
              </a:lnSpc>
              <a:spcBef>
                <a:spcPts val="0"/>
              </a:spcBef>
              <a:spcAft>
                <a:spcPts val="0"/>
              </a:spcAft>
            </a:pPr>
            <a:r>
              <a:rPr sz="1800" b="0">
                <a:solidFill>
                  <a:srgbClr val="253C31"/>
                </a:solidFill>
                <a:latin typeface="Segoe UI"/>
              </a:rPr>
              <a:t>No payments; sample deals are fictional</a:t>
            </a:r>
          </a:p>
        </p:txBody>
      </p:sp>
      <p:sp>
        <p:nvSpPr>
          <p:cNvPr id="24" name="TextBox 23"/>
          <p:cNvSpPr txBox="1"/>
          <p:nvPr/>
        </p:nvSpPr>
        <p:spPr>
          <a:xfrm>
            <a:off x="594360" y="6035040"/>
            <a:ext cx="10972800" cy="274320"/>
          </a:xfrm>
          <a:prstGeom prst="rect">
            <a:avLst/>
          </a:prstGeom>
          <a:noFill/>
        </p:spPr>
        <p:txBody>
          <a:bodyPr wrap="square" lIns="0" rIns="0" tIns="0" bIns="0" anchor="t">
            <a:spAutoFit/>
          </a:bodyPr>
          <a:lstStyle/>
          <a:p>
            <a:pPr>
              <a:lnSpc>
                <a:spcPct val="112000"/>
              </a:lnSpc>
              <a:spcBef>
                <a:spcPts val="0"/>
              </a:spcBef>
              <a:spcAft>
                <a:spcPts val="0"/>
              </a:spcAft>
            </a:pPr>
            <a:r>
              <a:rPr sz="1400" b="0">
                <a:solidFill>
                  <a:srgbClr val="596B60"/>
                </a:solidFill>
                <a:latin typeface="Segoe UI"/>
              </a:rPr>
              <a:t>Hackathon prototype  ·  Not a production banking product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3E32"/>
        </a:solidFill>
        <a:effectLst/>
      </p:bgPr>
    </p:bg>
    <p:spTree>
      <p:nvGrpSpPr>
        <p:cNvPr id="1" name=""/>
        <p:cNvGrpSpPr/>
        <p:nvPr/>
      </p:nvGrpSpPr>
      <p:grpSpPr/>
      <p:sp>
        <p:nvSpPr>
          <p:cNvPr id="2" name="TextBox 1"/>
          <p:cNvSpPr txBox="1"/>
          <p:nvPr/>
        </p:nvSpPr>
        <p:spPr>
          <a:xfrm>
            <a:off x="548640" y="320040"/>
            <a:ext cx="9144000" cy="256032"/>
          </a:xfrm>
          <a:prstGeom prst="rect">
            <a:avLst/>
          </a:prstGeom>
          <a:noFill/>
        </p:spPr>
        <p:txBody>
          <a:bodyPr wrap="square" lIns="0" rIns="0" tIns="0" bIns="0" anchor="t">
            <a:spAutoFit/>
          </a:bodyPr>
          <a:lstStyle/>
          <a:p>
            <a:pPr>
              <a:lnSpc>
                <a:spcPct val="112000"/>
              </a:lnSpc>
              <a:spcBef>
                <a:spcPts val="0"/>
              </a:spcBef>
              <a:spcAft>
                <a:spcPts val="0"/>
              </a:spcAft>
            </a:pPr>
            <a:r>
              <a:rPr sz="1200" b="1">
                <a:solidFill>
                  <a:srgbClr val="D1E4D7"/>
                </a:solidFill>
                <a:latin typeface="Segoe UI"/>
              </a:rPr>
              <a:t>THE VISION</a:t>
            </a:r>
          </a:p>
        </p:txBody>
      </p:sp>
      <p:sp>
        <p:nvSpPr>
          <p:cNvPr id="3" name="TextBox 2"/>
          <p:cNvSpPr txBox="1"/>
          <p:nvPr/>
        </p:nvSpPr>
        <p:spPr>
          <a:xfrm>
            <a:off x="10287000" y="246888"/>
            <a:ext cx="1344168" cy="411480"/>
          </a:xfrm>
          <a:prstGeom prst="rect">
            <a:avLst/>
          </a:prstGeom>
          <a:noFill/>
        </p:spPr>
        <p:txBody>
          <a:bodyPr wrap="square" lIns="0" rIns="0" tIns="0" bIns="0" anchor="t">
            <a:spAutoFit/>
          </a:bodyPr>
          <a:lstStyle/>
          <a:p>
            <a:pPr algn="r">
              <a:lnSpc>
                <a:spcPct val="112000"/>
              </a:lnSpc>
              <a:spcBef>
                <a:spcPts val="0"/>
              </a:spcBef>
              <a:spcAft>
                <a:spcPts val="0"/>
              </a:spcAft>
            </a:pPr>
            <a:r>
              <a:rPr sz="2200" b="1">
                <a:solidFill>
                  <a:srgbClr val="FFFFFF"/>
                </a:solidFill>
                <a:latin typeface="Segoe UI"/>
              </a:rPr>
              <a:t>moniq.</a:t>
            </a:r>
          </a:p>
        </p:txBody>
      </p:sp>
      <p:sp>
        <p:nvSpPr>
          <p:cNvPr id="4" name="Rectangle 3"/>
          <p:cNvSpPr/>
          <p:nvPr/>
        </p:nvSpPr>
        <p:spPr>
          <a:xfrm>
            <a:off x="548640" y="6419088"/>
            <a:ext cx="11091672" cy="10972"/>
          </a:xfrm>
          <a:prstGeom prst="rect">
            <a:avLst/>
          </a:prstGeom>
          <a:solidFill>
            <a:srgbClr val="4870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48640" y="6519672"/>
            <a:ext cx="5394960" cy="182880"/>
          </a:xfrm>
          <a:prstGeom prst="rect">
            <a:avLst/>
          </a:prstGeom>
          <a:noFill/>
        </p:spPr>
        <p:txBody>
          <a:bodyPr wrap="square" lIns="0" rIns="0" tIns="0" bIns="0" anchor="t">
            <a:spAutoFit/>
          </a:bodyPr>
          <a:lstStyle/>
          <a:p>
            <a:pPr>
              <a:lnSpc>
                <a:spcPct val="112000"/>
              </a:lnSpc>
              <a:spcBef>
                <a:spcPts val="0"/>
              </a:spcBef>
              <a:spcAft>
                <a:spcPts val="0"/>
              </a:spcAft>
            </a:pPr>
            <a:r>
              <a:rPr sz="1000" b="0">
                <a:solidFill>
                  <a:srgbClr val="D1E4D7"/>
                </a:solidFill>
                <a:latin typeface="Segoe UI"/>
              </a:rPr>
              <a:t>Hacklanta 2026  /  Fintech</a:t>
            </a:r>
          </a:p>
        </p:txBody>
      </p:sp>
      <p:sp>
        <p:nvSpPr>
          <p:cNvPr id="6" name="TextBox 5"/>
          <p:cNvSpPr txBox="1"/>
          <p:nvPr/>
        </p:nvSpPr>
        <p:spPr>
          <a:xfrm>
            <a:off x="11018520" y="6492240"/>
            <a:ext cx="612648" cy="237744"/>
          </a:xfrm>
          <a:prstGeom prst="rect">
            <a:avLst/>
          </a:prstGeom>
          <a:noFill/>
        </p:spPr>
        <p:txBody>
          <a:bodyPr wrap="square" lIns="0" rIns="0" tIns="0" bIns="0" anchor="t">
            <a:spAutoFit/>
          </a:bodyPr>
          <a:lstStyle/>
          <a:p>
            <a:pPr algn="r">
              <a:lnSpc>
                <a:spcPct val="112000"/>
              </a:lnSpc>
              <a:spcBef>
                <a:spcPts val="0"/>
              </a:spcBef>
              <a:spcAft>
                <a:spcPts val="0"/>
              </a:spcAft>
            </a:pPr>
            <a:r>
              <a:rPr sz="1200" b="0">
                <a:solidFill>
                  <a:srgbClr val="D1E4D7"/>
                </a:solidFill>
                <a:latin typeface="Segoe UI"/>
              </a:rPr>
              <a:t>08</a:t>
            </a:r>
          </a:p>
        </p:txBody>
      </p:sp>
      <p:sp>
        <p:nvSpPr>
          <p:cNvPr id="7" name="TextBox 6"/>
          <p:cNvSpPr txBox="1"/>
          <p:nvPr/>
        </p:nvSpPr>
        <p:spPr>
          <a:xfrm>
            <a:off x="594360" y="1088136"/>
            <a:ext cx="10972800" cy="1417320"/>
          </a:xfrm>
          <a:prstGeom prst="rect">
            <a:avLst/>
          </a:prstGeom>
          <a:noFill/>
        </p:spPr>
        <p:txBody>
          <a:bodyPr wrap="square" lIns="0" rIns="0" tIns="0" bIns="0" anchor="t">
            <a:spAutoFit/>
          </a:bodyPr>
          <a:lstStyle/>
          <a:p>
            <a:pPr>
              <a:lnSpc>
                <a:spcPct val="112000"/>
              </a:lnSpc>
              <a:spcBef>
                <a:spcPts val="0"/>
              </a:spcBef>
              <a:spcAft>
                <a:spcPts val="0"/>
              </a:spcAft>
            </a:pPr>
            <a:r>
              <a:rPr sz="3900" b="1">
                <a:solidFill>
                  <a:srgbClr val="FFFFFF"/>
                </a:solidFill>
                <a:latin typeface="Segoe UI"/>
              </a:rPr>
              <a:t>Make financial confidence</a:t>
            </a:r>
          </a:p>
          <a:p>
            <a:pPr>
              <a:lnSpc>
                <a:spcPct val="112000"/>
              </a:lnSpc>
              <a:spcBef>
                <a:spcPts val="0"/>
              </a:spcBef>
              <a:spcAft>
                <a:spcPts val="0"/>
              </a:spcAft>
            </a:pPr>
            <a:r>
              <a:rPr sz="3900" b="1">
                <a:solidFill>
                  <a:srgbClr val="FFFFFF"/>
                </a:solidFill>
                <a:latin typeface="Segoe UI"/>
              </a:rPr>
              <a:t>accessible to every student.</a:t>
            </a:r>
          </a:p>
        </p:txBody>
      </p:sp>
      <p:sp>
        <p:nvSpPr>
          <p:cNvPr id="8" name="TextBox 7"/>
          <p:cNvSpPr txBox="1"/>
          <p:nvPr/>
        </p:nvSpPr>
        <p:spPr>
          <a:xfrm>
            <a:off x="621792" y="2752344"/>
            <a:ext cx="10927080" cy="1024128"/>
          </a:xfrm>
          <a:prstGeom prst="rect">
            <a:avLst/>
          </a:prstGeom>
          <a:noFill/>
        </p:spPr>
        <p:txBody>
          <a:bodyPr wrap="square" lIns="0" rIns="0" tIns="0" bIns="0" anchor="t">
            <a:spAutoFit/>
          </a:bodyPr>
          <a:lstStyle/>
          <a:p>
            <a:pPr>
              <a:lnSpc>
                <a:spcPct val="112000"/>
              </a:lnSpc>
              <a:spcBef>
                <a:spcPts val="0"/>
              </a:spcBef>
              <a:spcAft>
                <a:spcPts val="0"/>
              </a:spcAft>
            </a:pPr>
            <a:r>
              <a:rPr sz="2600" b="0">
                <a:solidFill>
                  <a:srgbClr val="D1E4D7"/>
                </a:solidFill>
                <a:latin typeface="Segoe UI"/>
              </a:rPr>
              <a:t>Less bookkeeping. Clearer decisions.</a:t>
            </a:r>
          </a:p>
          <a:p>
            <a:pPr>
              <a:lnSpc>
                <a:spcPct val="112000"/>
              </a:lnSpc>
              <a:spcBef>
                <a:spcPts val="0"/>
              </a:spcBef>
              <a:spcAft>
                <a:spcPts val="0"/>
              </a:spcAft>
            </a:pPr>
            <a:r>
              <a:rPr sz="2600" b="0">
                <a:solidFill>
                  <a:srgbClr val="D1E4D7"/>
                </a:solidFill>
                <a:latin typeface="Segoe UI"/>
              </a:rPr>
              <a:t>Smarter savings. Easier roommate expenses.</a:t>
            </a:r>
          </a:p>
        </p:txBody>
      </p:sp>
      <p:sp>
        <p:nvSpPr>
          <p:cNvPr id="9" name="TextBox 8"/>
          <p:cNvSpPr txBox="1"/>
          <p:nvPr/>
        </p:nvSpPr>
        <p:spPr>
          <a:xfrm>
            <a:off x="594360" y="4133087"/>
            <a:ext cx="4297680" cy="868680"/>
          </a:xfrm>
          <a:prstGeom prst="rect">
            <a:avLst/>
          </a:prstGeom>
          <a:noFill/>
        </p:spPr>
        <p:txBody>
          <a:bodyPr wrap="square" lIns="0" rIns="0" tIns="0" bIns="0" anchor="t">
            <a:spAutoFit/>
          </a:bodyPr>
          <a:lstStyle/>
          <a:p>
            <a:pPr>
              <a:lnSpc>
                <a:spcPct val="112000"/>
              </a:lnSpc>
              <a:spcBef>
                <a:spcPts val="0"/>
              </a:spcBef>
              <a:spcAft>
                <a:spcPts val="0"/>
              </a:spcAft>
            </a:pPr>
            <a:r>
              <a:rPr sz="5500" b="1">
                <a:solidFill>
                  <a:srgbClr val="FFFFFF"/>
                </a:solidFill>
                <a:latin typeface="Segoe UI"/>
              </a:rPr>
              <a:t>moniq.</a:t>
            </a:r>
          </a:p>
        </p:txBody>
      </p:sp>
      <p:sp>
        <p:nvSpPr>
          <p:cNvPr id="10" name="TextBox 9"/>
          <p:cNvSpPr txBox="1"/>
          <p:nvPr/>
        </p:nvSpPr>
        <p:spPr>
          <a:xfrm>
            <a:off x="621792" y="5193792"/>
            <a:ext cx="8961120" cy="438912"/>
          </a:xfrm>
          <a:prstGeom prst="rect">
            <a:avLst/>
          </a:prstGeom>
          <a:noFill/>
        </p:spPr>
        <p:txBody>
          <a:bodyPr wrap="square" lIns="0" rIns="0" tIns="0" bIns="0" anchor="t">
            <a:spAutoFit/>
          </a:bodyPr>
          <a:lstStyle/>
          <a:p>
            <a:pPr>
              <a:lnSpc>
                <a:spcPct val="112000"/>
              </a:lnSpc>
              <a:spcBef>
                <a:spcPts val="0"/>
              </a:spcBef>
              <a:spcAft>
                <a:spcPts val="0"/>
              </a:spcAft>
            </a:pPr>
            <a:r>
              <a:rPr sz="2500" b="0">
                <a:solidFill>
                  <a:srgbClr val="FFFFFF"/>
                </a:solidFill>
                <a:latin typeface="Segoe UI"/>
              </a:rPr>
              <a:t>Spending, Made Smarter.</a:t>
            </a:r>
          </a:p>
        </p:txBody>
      </p:sp>
      <p:sp>
        <p:nvSpPr>
          <p:cNvPr id="11" name="TextBox 10"/>
          <p:cNvSpPr txBox="1"/>
          <p:nvPr/>
        </p:nvSpPr>
        <p:spPr>
          <a:xfrm>
            <a:off x="621792" y="5760720"/>
            <a:ext cx="10972800" cy="365760"/>
          </a:xfrm>
          <a:prstGeom prst="rect">
            <a:avLst/>
          </a:prstGeom>
          <a:noFill/>
        </p:spPr>
        <p:txBody>
          <a:bodyPr wrap="square" lIns="0" rIns="0" tIns="0" bIns="0" anchor="t">
            <a:spAutoFit/>
          </a:bodyPr>
          <a:lstStyle/>
          <a:p>
            <a:pPr>
              <a:lnSpc>
                <a:spcPct val="112000"/>
              </a:lnSpc>
              <a:spcBef>
                <a:spcPts val="0"/>
              </a:spcBef>
              <a:spcAft>
                <a:spcPts val="0"/>
              </a:spcAft>
            </a:pPr>
            <a:r>
              <a:rPr sz="1800" b="0">
                <a:solidFill>
                  <a:srgbClr val="D1E4D7"/>
                </a:solidFill>
                <a:latin typeface="Segoe UI"/>
                <a:hlinkClick r:id="rId2"/>
              </a:rPr>
              <a:t>https://github.com/ReddyR1105/Moniq</a:t>
            </a:r>
          </a:p>
        </p:txBody>
      </p:sp>
      <p:sp>
        <p:nvSpPr>
          <p:cNvPr id="12" name="TextBox 11"/>
          <p:cNvSpPr txBox="1"/>
          <p:nvPr/>
        </p:nvSpPr>
        <p:spPr>
          <a:xfrm>
            <a:off x="621792" y="6190488"/>
            <a:ext cx="10972800" cy="201168"/>
          </a:xfrm>
          <a:prstGeom prst="rect">
            <a:avLst/>
          </a:prstGeom>
          <a:noFill/>
        </p:spPr>
        <p:txBody>
          <a:bodyPr wrap="square" lIns="0" rIns="0" tIns="0" bIns="0" anchor="t">
            <a:spAutoFit/>
          </a:bodyPr>
          <a:lstStyle/>
          <a:p>
            <a:pPr>
              <a:lnSpc>
                <a:spcPct val="112000"/>
              </a:lnSpc>
              <a:spcBef>
                <a:spcPts val="0"/>
              </a:spcBef>
              <a:spcAft>
                <a:spcPts val="0"/>
              </a:spcAft>
            </a:pPr>
            <a:r>
              <a:rPr sz="1100" b="0">
                <a:solidFill>
                  <a:srgbClr val="D1E4D7"/>
                </a:solidFill>
                <a:latin typeface="Segoe UI"/>
              </a:rPr>
              <a:t>AI-assisted build · Work history disclosed in repository</a:t>
            </a:r>
          </a:p>
        </p:txBody>
      </p:sp>
    </p:spTree>
  </p:cSld>
  <p:clrMapOvr>
    <a:masterClrMapping/>
  </p:clrMapOvr>
</p:sld>
</file>

<file path=ppt/theme/theme1.xml><?xml version="1.0" encoding="utf-8"?>
<ns0:theme xmlns:ns0="http://schemas.openxmlformats.org/drawingml/2006/main" name="Office Theme">
  <ns0:themeElements>
    <ns0:clrScheme name="Office">
      <ns0:dk1>
        <ns0:sysClr val="windowText" lastClr="000000"/>
      </ns0:dk1>
      <ns0:lt1>
        <ns0:sysClr val="window" lastClr="FFFFFF"/>
      </ns0:lt1>
      <ns0:dk2>
        <ns0:srgbClr val="1F497D"/>
      </ns0:dk2>
      <ns0:lt2>
        <ns0:srgbClr val="EEECE1"/>
      </ns0:lt2>
      <ns0:accent1>
        <ns0:srgbClr val="4F81BD"/>
      </ns0:accent1>
      <ns0:accent2>
        <ns0:srgbClr val="C0504D"/>
      </ns0:accent2>
      <ns0:accent3>
        <ns0:srgbClr val="9BBB59"/>
      </ns0:accent3>
      <ns0:accent4>
        <ns0:srgbClr val="8064A2"/>
      </ns0:accent4>
      <ns0:accent5>
        <ns0:srgbClr val="4BACC6"/>
      </ns0:accent5>
      <ns0:accent6>
        <ns0:srgbClr val="F79646"/>
      </ns0:accent6>
      <ns0:hlink>
        <ns0:srgbClr val="D1E4D7"/>
      </ns0:hlink>
      <ns0:folHlink>
        <ns0:srgbClr val="D1E4D7"/>
      </ns0:folHlink>
    </ns0:clrScheme>
    <ns0:fontScheme name="Office">
      <ns0:majorFont>
        <ns0:latin typeface="Calibri"/>
        <ns0:ea typeface=""/>
        <ns0:cs typeface=""/>
        <ns0:font script="Jpan" typeface="ＭＳ Ｐゴシック"/>
        <ns0:font script="Hang" typeface="맑은 고딕"/>
        <ns0:font script="Hans" typeface="宋体"/>
        <ns0:font script="Hant" typeface="新細明體"/>
        <ns0:font script="Arab" typeface="Times New Roman"/>
        <ns0:font script="Hebr" typeface="Times New Roman"/>
        <ns0:font script="Thai" typeface="Angsana New"/>
        <ns0:font script="Ethi" typeface="Nyala"/>
        <ns0:font script="Beng" typeface="Vrinda"/>
        <ns0:font script="Gujr" typeface="Shruti"/>
        <ns0:font script="Khmr" typeface="MoolBoran"/>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Times New Roman"/>
        <ns0:font script="Uigh" typeface="Microsoft Uighur"/>
        <ns0:font script="Geor" typeface="Sylfaen"/>
      </ns0:majorFont>
      <ns0:minorFont>
        <ns0:latin typeface="Calibri"/>
        <ns0:ea typeface=""/>
        <ns0:cs typeface=""/>
        <ns0:font script="Jpan" typeface="ＭＳ Ｐゴシック"/>
        <ns0:font script="Hang" typeface="맑은 고딕"/>
        <ns0:font script="Hans" typeface="宋体"/>
        <ns0:font script="Hant" typeface="新細明體"/>
        <ns0:font script="Arab" typeface="Arial"/>
        <ns0:font script="Hebr" typeface="Arial"/>
        <ns0:font script="Thai" typeface="Cordia New"/>
        <ns0:font script="Ethi" typeface="Nyala"/>
        <ns0:font script="Beng" typeface="Vrinda"/>
        <ns0:font script="Gujr" typeface="Shruti"/>
        <ns0:font script="Khmr" typeface="DaunPenh"/>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Arial"/>
        <ns0:font script="Uigh" typeface="Microsoft Uighur"/>
        <ns0:font script="Geor" typeface="Sylfaen"/>
      </ns0:minorFont>
    </ns0:fontScheme>
    <ns0:fmtScheme name="Office">
      <ns0:fillStyleLst>
        <ns0:solidFill>
          <ns0:schemeClr val="phClr"/>
        </ns0:solidFill>
        <ns0:gradFill rotWithShape="1">
          <ns0:gsLst>
            <ns0:gs pos="0">
              <ns0:schemeClr val="phClr">
                <ns0:tint val="50000"/>
                <ns0:satMod val="300000"/>
              </ns0:schemeClr>
            </ns0:gs>
            <ns0:gs pos="35000">
              <ns0:schemeClr val="phClr">
                <ns0:tint val="37000"/>
                <ns0:satMod val="300000"/>
              </ns0:schemeClr>
            </ns0:gs>
            <ns0:gs pos="100000">
              <ns0:schemeClr val="phClr">
                <ns0:tint val="15000"/>
                <ns0:satMod val="350000"/>
              </ns0:schemeClr>
            </ns0:gs>
          </ns0:gsLst>
          <ns0:lin ang="16200000" scaled="1"/>
        </ns0:gradFill>
        <ns0:gradFill rotWithShape="1">
          <ns0:gsLst>
            <ns0:gs pos="0">
              <ns0:schemeClr val="phClr">
                <ns0:tint val="100000"/>
                <ns0:shade val="100000"/>
                <ns0:satMod val="130000"/>
              </ns0:schemeClr>
            </ns0:gs>
            <ns0:gs pos="100000">
              <ns0:schemeClr val="phClr">
                <ns0:tint val="50000"/>
                <ns0:shade val="100000"/>
                <ns0:satMod val="350000"/>
              </ns0:schemeClr>
            </ns0:gs>
          </ns0:gsLst>
          <ns0:lin ang="16200000" scaled="0"/>
        </ns0:gradFill>
      </ns0:fillStyleLst>
      <ns0:lnStyleLst>
        <ns0:ln w="9525" cap="flat" cmpd="sng" algn="ctr">
          <ns0:solidFill>
            <ns0:schemeClr val="phClr">
              <ns0:shade val="95000"/>
              <ns0:satMod val="105000"/>
            </ns0:schemeClr>
          </ns0:solidFill>
          <ns0:prstDash val="solid"/>
        </ns0:ln>
        <ns0:ln w="25400" cap="flat" cmpd="sng" algn="ctr">
          <ns0:solidFill>
            <ns0:schemeClr val="phClr"/>
          </ns0:solidFill>
          <ns0:prstDash val="solid"/>
        </ns0:ln>
        <ns0:ln w="38100" cap="flat" cmpd="sng" algn="ctr">
          <ns0:solidFill>
            <ns0:schemeClr val="phClr"/>
          </ns0:solidFill>
          <ns0:prstDash val="solid"/>
        </ns0:ln>
      </ns0:lnStyleLst>
      <ns0:effectStyleLst>
        <ns0:effectStyle>
          <ns0:effectLst>
            <ns0:outerShdw blurRad="40000" dist="20000" dir="5400000" rotWithShape="0">
              <ns0:srgbClr val="000000">
                <ns0:alpha val="38000"/>
              </ns0:srgbClr>
            </ns0:outerShdw>
          </ns0:effectLst>
        </ns0:effectStyle>
        <ns0:effectStyle>
          <ns0:effectLst>
            <ns0:outerShdw blurRad="40000" dist="23000" dir="5400000" rotWithShape="0">
              <ns0:srgbClr val="000000">
                <ns0:alpha val="35000"/>
              </ns0:srgbClr>
            </ns0:outerShdw>
          </ns0:effectLst>
        </ns0:effectStyle>
        <ns0:effectStyle>
          <ns0:effectLst>
            <ns0:outerShdw blurRad="40000" dist="23000" dir="5400000" rotWithShape="0">
              <ns0:srgbClr val="000000">
                <ns0:alpha val="35000"/>
              </ns0:srgbClr>
            </ns0:outerShdw>
          </ns0:effectLst>
          <ns0:scene3d>
            <ns0:camera prst="orthographicFront">
              <ns0:rot lat="0" lon="0" rev="0"/>
            </ns0:camera>
            <ns0:lightRig rig="threePt" dir="t">
              <ns0:rot lat="0" lon="0" rev="1200000"/>
            </ns0:lightRig>
          </ns0:scene3d>
          <ns0:sp3d>
            <ns0:bevelT w="63500" h="25400"/>
          </ns0:sp3d>
        </ns0:effectStyle>
      </ns0:effectStyleLst>
      <ns0:bgFillStyleLst>
        <ns0:solidFill>
          <ns0:schemeClr val="phClr"/>
        </ns0:solidFill>
        <ns0:gradFill rotWithShape="1">
          <ns0:gsLst>
            <ns0:gs pos="0">
              <ns0:schemeClr val="phClr">
                <ns0:tint val="40000"/>
                <ns0:satMod val="350000"/>
              </ns0:schemeClr>
            </ns0:gs>
            <ns0:gs pos="40000">
              <ns0:schemeClr val="phClr">
                <ns0:tint val="45000"/>
                <ns0:shade val="99000"/>
                <ns0:satMod val="350000"/>
              </ns0:schemeClr>
            </ns0:gs>
            <ns0:gs pos="100000">
              <ns0:schemeClr val="phClr">
                <ns0:shade val="20000"/>
                <ns0:satMod val="255000"/>
              </ns0:schemeClr>
            </ns0:gs>
          </ns0:gsLst>
          <ns0:path path="circle">
            <ns0:fillToRect l="50000" t="-80000" r="50000" b="180000"/>
          </ns0:path>
        </ns0:gradFill>
        <ns0:gradFill rotWithShape="1">
          <ns0:gsLst>
            <ns0:gs pos="0">
              <ns0:schemeClr val="phClr">
                <ns0:tint val="80000"/>
                <ns0:satMod val="300000"/>
              </ns0:schemeClr>
            </ns0:gs>
            <ns0:gs pos="100000">
              <ns0:schemeClr val="phClr">
                <ns0:shade val="30000"/>
                <ns0:satMod val="200000"/>
              </ns0:schemeClr>
            </ns0:gs>
          </ns0:gsLst>
          <ns0:path path="circle">
            <ns0:fillToRect l="50000" t="50000" r="50000" b="50000"/>
          </ns0:path>
        </ns0:gradFill>
      </ns0:bgFillStyleLst>
    </ns0:fmtScheme>
  </ns0:themeElements>
  <ns0:objectDefaults>
    <ns0:spDef>
      <ns0:spPr/>
      <ns0:bodyPr/>
      <ns0:lstStyle/>
      <ns0:style>
        <ns0:lnRef idx="1">
          <ns0:schemeClr val="accent1"/>
        </ns0:lnRef>
        <ns0:fillRef idx="3">
          <ns0:schemeClr val="accent1"/>
        </ns0:fillRef>
        <ns0:effectRef idx="2">
          <ns0:schemeClr val="accent1"/>
        </ns0:effectRef>
        <ns0:fontRef idx="minor">
          <ns0:schemeClr val="lt1"/>
        </ns0:fontRef>
      </ns0:style>
    </ns0:spDef>
    <ns0:lnDef>
      <ns0:spPr/>
      <ns0:bodyPr/>
      <ns0:lstStyle/>
      <ns0:style>
        <ns0:lnRef idx="2">
          <ns0:schemeClr val="accent1"/>
        </ns0:lnRef>
        <ns0:fillRef idx="0">
          <ns0:schemeClr val="accent1"/>
        </ns0:fillRef>
        <ns0:effectRef idx="1">
          <ns0:schemeClr val="accent1"/>
        </ns0:effectRef>
        <ns0:fontRef idx="minor">
          <ns0:schemeClr val="tx1"/>
        </ns0:fontRef>
      </ns0:style>
    </ns0:lnDef>
  </ns0:objectDefaults>
  <ns0:extraClrSchemeLst/>
</ns0:theme>
</file>

<file path=ppt/theme/theme2.xml><?xml version="1.0" encoding="utf-8"?>
<ns0:theme xmlns:ns0="http://schemas.openxmlformats.org/drawingml/2006/main" name="Office Theme">
  <ns0:themeElements>
    <ns0:clrScheme name="Office">
      <ns0:dk1>
        <ns0:sysClr val="windowText" lastClr="000000"/>
      </ns0:dk1>
      <ns0:lt1>
        <ns0:sysClr val="window" lastClr="FFFFFF"/>
      </ns0:lt1>
      <ns0:dk2>
        <ns0:srgbClr val="1F497D"/>
      </ns0:dk2>
      <ns0:lt2>
        <ns0:srgbClr val="EEECE1"/>
      </ns0:lt2>
      <ns0:accent1>
        <ns0:srgbClr val="4F81BD"/>
      </ns0:accent1>
      <ns0:accent2>
        <ns0:srgbClr val="C0504D"/>
      </ns0:accent2>
      <ns0:accent3>
        <ns0:srgbClr val="9BBB59"/>
      </ns0:accent3>
      <ns0:accent4>
        <ns0:srgbClr val="8064A2"/>
      </ns0:accent4>
      <ns0:accent5>
        <ns0:srgbClr val="4BACC6"/>
      </ns0:accent5>
      <ns0:accent6>
        <ns0:srgbClr val="F79646"/>
      </ns0:accent6>
      <ns0:hlink>
        <ns0:srgbClr val="D1E4D7"/>
      </ns0:hlink>
      <ns0:folHlink>
        <ns0:srgbClr val="D1E4D7"/>
      </ns0:folHlink>
    </ns0:clrScheme>
    <ns0:fontScheme name="Office">
      <ns0:majorFont>
        <ns0:latin typeface="Calibri"/>
        <ns0:ea typeface=""/>
        <ns0:cs typeface=""/>
        <ns0:font script="Jpan" typeface="ＭＳ Ｐゴシック"/>
        <ns0:font script="Hang" typeface="맑은 고딕"/>
        <ns0:font script="Hans" typeface="宋体"/>
        <ns0:font script="Hant" typeface="新細明體"/>
        <ns0:font script="Arab" typeface="Times New Roman"/>
        <ns0:font script="Hebr" typeface="Times New Roman"/>
        <ns0:font script="Thai" typeface="Angsana New"/>
        <ns0:font script="Ethi" typeface="Nyala"/>
        <ns0:font script="Beng" typeface="Vrinda"/>
        <ns0:font script="Gujr" typeface="Shruti"/>
        <ns0:font script="Khmr" typeface="MoolBoran"/>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Times New Roman"/>
        <ns0:font script="Uigh" typeface="Microsoft Uighur"/>
        <ns0:font script="Geor" typeface="Sylfaen"/>
      </ns0:majorFont>
      <ns0:minorFont>
        <ns0:latin typeface="Calibri"/>
        <ns0:ea typeface=""/>
        <ns0:cs typeface=""/>
        <ns0:font script="Jpan" typeface="ＭＳ Ｐゴシック"/>
        <ns0:font script="Hang" typeface="맑은 고딕"/>
        <ns0:font script="Hans" typeface="宋体"/>
        <ns0:font script="Hant" typeface="新細明體"/>
        <ns0:font script="Arab" typeface="Arial"/>
        <ns0:font script="Hebr" typeface="Arial"/>
        <ns0:font script="Thai" typeface="Cordia New"/>
        <ns0:font script="Ethi" typeface="Nyala"/>
        <ns0:font script="Beng" typeface="Vrinda"/>
        <ns0:font script="Gujr" typeface="Shruti"/>
        <ns0:font script="Khmr" typeface="DaunPenh"/>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Arial"/>
        <ns0:font script="Uigh" typeface="Microsoft Uighur"/>
        <ns0:font script="Geor" typeface="Sylfaen"/>
      </ns0:minorFont>
    </ns0:fontScheme>
    <ns0:fmtScheme name="Office">
      <ns0:fillStyleLst>
        <ns0:solidFill>
          <ns0:schemeClr val="phClr"/>
        </ns0:solidFill>
        <ns0:gradFill rotWithShape="1">
          <ns0:gsLst>
            <ns0:gs pos="0">
              <ns0:schemeClr val="phClr">
                <ns0:tint val="50000"/>
                <ns0:satMod val="300000"/>
              </ns0:schemeClr>
            </ns0:gs>
            <ns0:gs pos="35000">
              <ns0:schemeClr val="phClr">
                <ns0:tint val="37000"/>
                <ns0:satMod val="300000"/>
              </ns0:schemeClr>
            </ns0:gs>
            <ns0:gs pos="100000">
              <ns0:schemeClr val="phClr">
                <ns0:tint val="15000"/>
                <ns0:satMod val="350000"/>
              </ns0:schemeClr>
            </ns0:gs>
          </ns0:gsLst>
          <ns0:lin ang="16200000" scaled="1"/>
        </ns0:gradFill>
        <ns0:gradFill rotWithShape="1">
          <ns0:gsLst>
            <ns0:gs pos="0">
              <ns0:schemeClr val="phClr">
                <ns0:tint val="100000"/>
                <ns0:shade val="100000"/>
                <ns0:satMod val="130000"/>
              </ns0:schemeClr>
            </ns0:gs>
            <ns0:gs pos="100000">
              <ns0:schemeClr val="phClr">
                <ns0:tint val="50000"/>
                <ns0:shade val="100000"/>
                <ns0:satMod val="350000"/>
              </ns0:schemeClr>
            </ns0:gs>
          </ns0:gsLst>
          <ns0:lin ang="16200000" scaled="0"/>
        </ns0:gradFill>
      </ns0:fillStyleLst>
      <ns0:lnStyleLst>
        <ns0:ln w="9525" cap="flat" cmpd="sng" algn="ctr">
          <ns0:solidFill>
            <ns0:schemeClr val="phClr">
              <ns0:shade val="95000"/>
              <ns0:satMod val="105000"/>
            </ns0:schemeClr>
          </ns0:solidFill>
          <ns0:prstDash val="solid"/>
        </ns0:ln>
        <ns0:ln w="25400" cap="flat" cmpd="sng" algn="ctr">
          <ns0:solidFill>
            <ns0:schemeClr val="phClr"/>
          </ns0:solidFill>
          <ns0:prstDash val="solid"/>
        </ns0:ln>
        <ns0:ln w="38100" cap="flat" cmpd="sng" algn="ctr">
          <ns0:solidFill>
            <ns0:schemeClr val="phClr"/>
          </ns0:solidFill>
          <ns0:prstDash val="solid"/>
        </ns0:ln>
      </ns0:lnStyleLst>
      <ns0:effectStyleLst>
        <ns0:effectStyle>
          <ns0:effectLst>
            <ns0:outerShdw blurRad="40000" dist="20000" dir="5400000" rotWithShape="0">
              <ns0:srgbClr val="000000">
                <ns0:alpha val="38000"/>
              </ns0:srgbClr>
            </ns0:outerShdw>
          </ns0:effectLst>
        </ns0:effectStyle>
        <ns0:effectStyle>
          <ns0:effectLst>
            <ns0:outerShdw blurRad="40000" dist="23000" dir="5400000" rotWithShape="0">
              <ns0:srgbClr val="000000">
                <ns0:alpha val="35000"/>
              </ns0:srgbClr>
            </ns0:outerShdw>
          </ns0:effectLst>
        </ns0:effectStyle>
        <ns0:effectStyle>
          <ns0:effectLst>
            <ns0:outerShdw blurRad="40000" dist="23000" dir="5400000" rotWithShape="0">
              <ns0:srgbClr val="000000">
                <ns0:alpha val="35000"/>
              </ns0:srgbClr>
            </ns0:outerShdw>
          </ns0:effectLst>
          <ns0:scene3d>
            <ns0:camera prst="orthographicFront">
              <ns0:rot lat="0" lon="0" rev="0"/>
            </ns0:camera>
            <ns0:lightRig rig="threePt" dir="t">
              <ns0:rot lat="0" lon="0" rev="1200000"/>
            </ns0:lightRig>
          </ns0:scene3d>
          <ns0:sp3d>
            <ns0:bevelT w="63500" h="25400"/>
          </ns0:sp3d>
        </ns0:effectStyle>
      </ns0:effectStyleLst>
      <ns0:bgFillStyleLst>
        <ns0:solidFill>
          <ns0:schemeClr val="phClr"/>
        </ns0:solidFill>
        <ns0:gradFill rotWithShape="1">
          <ns0:gsLst>
            <ns0:gs pos="0">
              <ns0:schemeClr val="phClr">
                <ns0:tint val="40000"/>
                <ns0:satMod val="350000"/>
              </ns0:schemeClr>
            </ns0:gs>
            <ns0:gs pos="40000">
              <ns0:schemeClr val="phClr">
                <ns0:tint val="45000"/>
                <ns0:shade val="99000"/>
                <ns0:satMod val="350000"/>
              </ns0:schemeClr>
            </ns0:gs>
            <ns0:gs pos="100000">
              <ns0:schemeClr val="phClr">
                <ns0:shade val="20000"/>
                <ns0:satMod val="255000"/>
              </ns0:schemeClr>
            </ns0:gs>
          </ns0:gsLst>
          <ns0:path path="circle">
            <ns0:fillToRect l="50000" t="-80000" r="50000" b="180000"/>
          </ns0:path>
        </ns0:gradFill>
        <ns0:gradFill rotWithShape="1">
          <ns0:gsLst>
            <ns0:gs pos="0">
              <ns0:schemeClr val="phClr">
                <ns0:tint val="80000"/>
                <ns0:satMod val="300000"/>
              </ns0:schemeClr>
            </ns0:gs>
            <ns0:gs pos="100000">
              <ns0:schemeClr val="phClr">
                <ns0:shade val="30000"/>
                <ns0:satMod val="200000"/>
              </ns0:schemeClr>
            </ns0:gs>
          </ns0:gsLst>
          <ns0:path path="circle">
            <ns0:fillToRect l="50000" t="50000" r="50000" b="50000"/>
          </ns0:path>
        </ns0:gradFill>
      </ns0:bgFillStyleLst>
    </ns0:fmtScheme>
  </ns0:themeElements>
  <ns0:objectDefaults>
    <ns0:spDef>
      <ns0:spPr/>
      <ns0:bodyPr/>
      <ns0:lstStyle/>
      <ns0:style>
        <ns0:lnRef idx="1">
          <ns0:schemeClr val="accent1"/>
        </ns0:lnRef>
        <ns0:fillRef idx="3">
          <ns0:schemeClr val="accent1"/>
        </ns0:fillRef>
        <ns0:effectRef idx="2">
          <ns0:schemeClr val="accent1"/>
        </ns0:effectRef>
        <ns0:fontRef idx="minor">
          <ns0:schemeClr val="lt1"/>
        </ns0:fontRef>
      </ns0:style>
    </ns0:spDef>
    <ns0:lnDef>
      <ns0:spPr/>
      <ns0:bodyPr/>
      <ns0:lstStyle/>
      <ns0:style>
        <ns0:lnRef idx="2">
          <ns0:schemeClr val="accent1"/>
        </ns0:lnRef>
        <ns0:fillRef idx="0">
          <ns0:schemeClr val="accent1"/>
        </ns0:fillRef>
        <ns0:effectRef idx="1">
          <ns0:schemeClr val="accent1"/>
        </ns0:effectRef>
        <ns0:fontRef idx="minor">
          <ns0:schemeClr val="tx1"/>
        </ns0:fontRef>
      </ns0:style>
    </ns0:lnDef>
  </ns0:objectDefaults>
  <ns0:extraClrSchemeLst/>
</ns0: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Moniq | Spending, Made Smarter. | Hacklanta 2026</dc:title>
  <dc:subject>Fintech judging presentation with synthetic demonstration data</dc:subject>
  <dc:creator>Moniq team — presenter to be confirmed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